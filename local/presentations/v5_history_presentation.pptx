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Drone Bombard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931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학습 진척 정리 — 시간 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5555"/>
                </a:solidFill>
              </a:defRPr>
            </a:pPr>
            <a:r>
              <a:t>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C2C2C"/>
                </a:solidFill>
              </a:defRPr>
            </a:pPr>
            <a:r>
              <a:t>드론이 비행하면서 정확한 위치에 물건을 떨어뜨리도록</a:t>
            </a:r>
          </a:p>
          <a:p>
            <a:pPr>
              <a:spcAft>
                <a:spcPts val="800"/>
              </a:spcAft>
              <a:defRPr sz="2600" b="1">
                <a:solidFill>
                  <a:srgbClr val="2C2C2C"/>
                </a:solidFill>
              </a:defRPr>
            </a:pPr>
            <a:r>
              <a:t>강화학습으로 가르치는 프로젝트</a:t>
            </a:r>
          </a:p>
          <a:p>
            <a:pPr>
              <a:spcAft>
                <a:spcPts val="800"/>
              </a:spcAft>
              <a:defRPr sz="1400" b="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C2C2C"/>
                </a:solidFill>
              </a:defRPr>
            </a:pPr>
            <a:r>
              <a:t>• 학습 알고리즘: SAC (강화학습)</a:t>
            </a:r>
          </a:p>
          <a:p>
            <a:pPr>
              <a:spcAft>
                <a:spcPts val="800"/>
              </a:spcAft>
              <a:defRPr sz="1900" b="0">
                <a:solidFill>
                  <a:srgbClr val="2C2C2C"/>
                </a:solidFill>
              </a:defRPr>
            </a:pPr>
            <a:r>
              <a:t>• 시뮬레이션: Gazebo + PX4 (실제 드론과 동일한 비행 제어)</a:t>
            </a:r>
          </a:p>
          <a:p>
            <a:pPr>
              <a:spcAft>
                <a:spcPts val="800"/>
              </a:spcAft>
              <a:defRPr sz="1900" b="0">
                <a:solidFill>
                  <a:srgbClr val="2C2C2C"/>
                </a:solidFill>
              </a:defRPr>
            </a:pPr>
            <a:r>
              <a:t>• 정책: 신경망이 비행 명령을 결정 → 드롭 → 거리 오차 = 보상</a:t>
            </a:r>
          </a:p>
          <a:p>
            <a:pPr>
              <a:spcAft>
                <a:spcPts val="800"/>
              </a:spcAft>
              <a:defRPr sz="1400" b="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C2C2C"/>
                </a:solidFill>
              </a:defRPr>
            </a:pPr>
            <a:r>
              <a:t>아래는 7일간의 학습 라운드 변천사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전체 라운드 흐름 (한눈에)</a:t>
            </a:r>
          </a:p>
        </p:txBody>
      </p:sp>
      <p:pic>
        <p:nvPicPr>
          <p:cNvPr id="3" name="Picture 2" descr="flow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8875" y="914400"/>
            <a:ext cx="1628670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Round 5-6 → Round 7: 학습 발산 → 안정화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6F6F6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400">
                <a:solidFill>
                  <a:srgbClr val="2C2C2C"/>
                </a:solidFill>
              </a:defRPr>
            </a:pPr>
            <a:r>
              <a:t>SAC = 강화학습 알고리즘. 정책의 행동 + 탐색 의지를 동시에 학습.</a:t>
            </a:r>
            <a:br/>
            <a:r>
              <a:t>PER = SAC 의 데이터 저장소에서 드문 이벤트 (예: 드롭) 를 더 자주 학습하도록 우선순위 부여 (Round 3 부터 적용).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65960"/>
            <a:ext cx="3657600" cy="1005840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[문제]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학습 중 탐색 의지가 6 이상으로 폭주</a:t>
            </a:r>
            <a:br/>
            <a:r>
              <a:t>→ 정책이 무작위처럼 행동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1965960"/>
            <a:ext cx="3657600" cy="1005840"/>
          </a:xfrm>
          <a:prstGeom prst="rect">
            <a:avLst/>
          </a:prstGeom>
          <a:solidFill>
            <a:srgbClr val="E7F6EC"/>
          </a:solidFill>
          <a:ln w="25400">
            <a:solidFill>
              <a:srgbClr val="217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217A42"/>
                </a:solidFill>
              </a:defRPr>
            </a:pPr>
            <a:r>
              <a:t>[해결]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탐색 의지의 상한 + critic 폭주 방지</a:t>
            </a:r>
            <a:br/>
            <a:r>
              <a:t>(2가지 안전장치 + 조정)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66176" y="1965960"/>
            <a:ext cx="3657600" cy="1005840"/>
          </a:xfrm>
          <a:prstGeom prst="rect">
            <a:avLst/>
          </a:prstGeom>
          <a:solidFill>
            <a:srgbClr val="E8EFF7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[결과]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685k step 자연 완주</a:t>
            </a:r>
            <a:br/>
            <a:r>
              <a:t>(Phase 1 첫 성공)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Round 7 → redux: task 자체가 너무 어려움 → 단순화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657600" cy="1005840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[문제]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14m 거리 target — 너무 어려워</a:t>
            </a:r>
            <a:br/>
            <a:r>
              <a:t>오차 평균 14m, success 거의 없음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1688" y="914400"/>
            <a:ext cx="3657600" cy="1005840"/>
          </a:xfrm>
          <a:prstGeom prst="rect">
            <a:avLst/>
          </a:prstGeom>
          <a:solidFill>
            <a:srgbClr val="E7F6EC"/>
          </a:solidFill>
          <a:ln w="25400">
            <a:solidFill>
              <a:srgbClr val="217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217A42"/>
                </a:solidFill>
              </a:defRPr>
            </a:pPr>
            <a:r>
              <a:t>[해결]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target 거리를 5m 로 단축</a:t>
            </a:r>
            <a:br/>
            <a:r>
              <a:t>(3배 가까이)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66176" y="914400"/>
            <a:ext cx="3657600" cy="1005840"/>
          </a:xfrm>
          <a:prstGeom prst="rect">
            <a:avLst/>
          </a:prstGeom>
          <a:solidFill>
            <a:srgbClr val="E8EFF7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[결과]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정책이 빠르게 학습</a:t>
            </a:r>
            <a:br/>
            <a:r>
              <a:t>best 0.81m, 799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redux v3 → v4: 새로운 패턴 발견</a:t>
            </a:r>
          </a:p>
        </p:txBody>
      </p:sp>
      <p:pic>
        <p:nvPicPr>
          <p:cNvPr id="3" name="Picture 2" descr="flow_v3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16" y="914400"/>
            <a:ext cx="854291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v4 → v5: 잘못된 가설을 깨다</a:t>
            </a:r>
          </a:p>
        </p:txBody>
      </p:sp>
      <p:pic>
        <p:nvPicPr>
          <p:cNvPr id="3" name="Picture 2" descr="flow_root_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712" y="914400"/>
            <a:ext cx="92055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[자세히] CCIP Gap — 원인과 해결</a:t>
            </a:r>
          </a:p>
        </p:txBody>
      </p:sp>
      <p:pic>
        <p:nvPicPr>
          <p:cNvPr id="3" name="Picture 2" descr="ccip_gap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28" y="914400"/>
            <a:ext cx="79656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결정적 측정 — 비행기 4.5m 인데 물건 위치 0</a:t>
            </a:r>
          </a:p>
        </p:txBody>
      </p:sp>
      <p:pic>
        <p:nvPicPr>
          <p:cNvPr id="3" name="Picture 2" descr="sdf_fix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236" y="914400"/>
            <a:ext cx="83564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v5 처방 (6가지 동시 적용)</a:t>
            </a:r>
          </a:p>
        </p:txBody>
      </p:sp>
      <p:pic>
        <p:nvPicPr>
          <p:cNvPr id="3" name="Picture 2" descr="flow_v5_reme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321" y="914400"/>
            <a:ext cx="78803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v5 결과 → 또 새로운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657600" cy="1005840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[문제]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160 drops 중 50% 가</a:t>
            </a:r>
            <a:br/>
            <a:r>
              <a:t>"실패값" (99m) 으로 기록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1688" y="914400"/>
            <a:ext cx="3657600" cy="1005840"/>
          </a:xfrm>
          <a:prstGeom prst="rect">
            <a:avLst/>
          </a:prstGeom>
          <a:solidFill>
            <a:srgbClr val="E7F6EC"/>
          </a:solidFill>
          <a:ln w="25400">
            <a:solidFill>
              <a:srgbClr val="217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217A42"/>
                </a:solidFill>
              </a:defRPr>
            </a:pPr>
            <a:r>
              <a:t>[해결]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(아직 진단 중)</a:t>
            </a:r>
            <a:br/>
            <a:r>
              <a:t>호버 상태에서 drop 시 발생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66176" y="914400"/>
            <a:ext cx="3657600" cy="1005840"/>
          </a:xfrm>
          <a:prstGeom prst="rect">
            <a:avLst/>
          </a:prstGeom>
          <a:solidFill>
            <a:srgbClr val="E8EFF7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[결과]</a:t>
            </a:r>
          </a:p>
          <a:p>
            <a:pPr>
              <a:defRPr sz="1500">
                <a:solidFill>
                  <a:srgbClr val="2C2C2C"/>
                </a:solidFill>
              </a:defRPr>
            </a:pPr>
            <a:r>
              <a:t>진짜 success_rate ≈ 32%</a:t>
            </a:r>
            <a:br/>
            <a:r>
              <a:t>학습 신호 일부 망가짐</a:t>
            </a:r>
          </a:p>
        </p:txBody>
      </p:sp>
      <p:pic>
        <p:nvPicPr>
          <p:cNvPr id="6" name="Picture 5" descr="v5_drop_err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236" y="2103120"/>
            <a:ext cx="83564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정책이 학습될수록 실패가 늘어남</a:t>
            </a:r>
          </a:p>
        </p:txBody>
      </p:sp>
      <p:pic>
        <p:nvPicPr>
          <p:cNvPr id="3" name="Picture 2" descr="v5_invalid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236" y="914400"/>
            <a:ext cx="83564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v5 → v6: 다음 처방</a:t>
            </a:r>
          </a:p>
        </p:txBody>
      </p:sp>
      <p:pic>
        <p:nvPicPr>
          <p:cNvPr id="3" name="Picture 2" descr="flow_v5_to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16" y="914400"/>
            <a:ext cx="854291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현재 상태 +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C2C2C"/>
                </a:solidFill>
              </a:defRPr>
            </a:pPr>
            <a:r>
              <a:t>지금까지</a:t>
            </a:r>
          </a:p>
          <a:p>
            <a:pPr>
              <a:spcAft>
                <a:spcPts val="800"/>
              </a:spcAft>
              <a:defRPr sz="2000" b="0">
                <a:solidFill>
                  <a:srgbClr val="2C2C2C"/>
                </a:solidFill>
              </a:defRPr>
            </a:pPr>
            <a:r>
              <a:t>• 학습 안정화 → task 단순화 → 측정 오류 발견 + 수정</a:t>
            </a:r>
          </a:p>
          <a:p>
            <a:pPr>
              <a:spcAft>
                <a:spcPts val="800"/>
              </a:spcAft>
              <a:defRPr sz="2000" b="0">
                <a:solidFill>
                  <a:srgbClr val="2C2C2C"/>
                </a:solidFill>
              </a:defRPr>
            </a:pPr>
            <a:r>
              <a:t>• v5 학습으로 진짜 보상 신호 회복</a:t>
            </a:r>
          </a:p>
          <a:p>
            <a:pPr>
              <a:spcAft>
                <a:spcPts val="800"/>
              </a:spcAft>
              <a:defRPr sz="2000" b="0">
                <a:solidFill>
                  <a:srgbClr val="2C2C2C"/>
                </a:solidFill>
              </a:defRPr>
            </a:pPr>
            <a:r>
              <a:t>• 그러나 호버 drop 의 새 문제 발견</a:t>
            </a:r>
          </a:p>
          <a:p>
            <a:pPr>
              <a:spcAft>
                <a:spcPts val="800"/>
              </a:spcAft>
              <a:defRPr sz="1400" b="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2600" b="1">
                <a:solidFill>
                  <a:srgbClr val="2C2C2C"/>
                </a:solidFill>
              </a:defRPr>
            </a:pPr>
            <a:r>
              <a:t>회의 후 진행할 것</a:t>
            </a:r>
          </a:p>
          <a:p>
            <a:pPr>
              <a:spcAft>
                <a:spcPts val="800"/>
              </a:spcAft>
              <a:defRPr sz="2000" b="0">
                <a:solidFill>
                  <a:srgbClr val="2C2C2C"/>
                </a:solidFill>
              </a:defRPr>
            </a:pPr>
            <a:r>
              <a:t>• 호버 drop 의 정확한 원인 진단</a:t>
            </a:r>
          </a:p>
          <a:p>
            <a:pPr>
              <a:spcAft>
                <a:spcPts val="800"/>
              </a:spcAft>
              <a:defRPr sz="2000" b="0">
                <a:solidFill>
                  <a:srgbClr val="2C2C2C"/>
                </a:solidFill>
              </a:defRPr>
            </a:pPr>
            <a:r>
              <a:t>• v6 처방 결정 (학습 시간 단축 + 호버 fix + 탐색 강화)</a:t>
            </a:r>
          </a:p>
          <a:p>
            <a:pPr>
              <a:spcAft>
                <a:spcPts val="800"/>
              </a:spcAft>
              <a:defRPr sz="1400" b="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C2C2C"/>
                </a:solidFill>
              </a:defRPr>
            </a:pPr>
            <a:r>
              <a:t>질문 / 토론 환영합니다.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