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CA8D32-065B-45EC-9BAD-B18BADAA48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48F894-5323-42AD-879A-237A29B032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4C65D71-2DAD-4273-91FF-7FA0870170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8E36235-507E-45D3-B44F-1D5986F84E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BFA06F3-A88B-4F88-8381-84B85CBBF8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5607E6B-5436-4609-8C96-6D5ACE337A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6944E73-61C6-46F4-BC78-9018E602E5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5E198B1-3C31-4B5A-B5CB-8C4BFACA49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315DFC5-CC8C-4998-9A4D-1A94C74583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2D12128-A9CB-4B1C-831C-1CB150B649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79597F2-8B92-414F-B5F9-EF2310DF85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6DF230-8EF7-4360-8764-F145990B01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B87EC8-0697-4687-BB62-FF70FEED4C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11C009-9C36-4BF3-8FF8-F55C4B0174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0A2668-BEA6-44C7-90D5-34418B20EA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928BD2-2ADC-4945-8EC6-23B2BF921A3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DBBD91-E093-4150-8909-30DCE88ED7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59BF3B-5E9C-407B-A0ED-913C90DBFB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B35A0F-A3CD-4F6A-BE1C-BD7B41FC94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1709B4-4A56-433D-AB4B-FB43A35E7A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779395-4E4E-4193-B57B-4E111392FF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FFDD2C-B154-428C-96E2-9C33C5B435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14400" y="1645920"/>
            <a:ext cx="100580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5cb8ff"/>
                </a:solidFill>
                <a:latin typeface="맑은 고딕"/>
              </a:rPr>
              <a:t>Drone-Bombard-Simulation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274320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2800" spc="-1" strike="noStrike">
                <a:solidFill>
                  <a:srgbClr val="ffffff"/>
                </a:solidFill>
                <a:latin typeface="맑은 고딕"/>
              </a:rPr>
              <a:t>강화학습 기반 드론 정밀투하 — 현황 보고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365760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aaaabb"/>
                </a:solidFill>
                <a:latin typeface="맑은 고딕"/>
              </a:rPr>
              <a:t>2026-05-25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3657600" y="4572000"/>
            <a:ext cx="484596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프로젝트 개요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ounded Rectangle 2"/>
          <p:cNvSpPr/>
          <p:nvPr/>
        </p:nvSpPr>
        <p:spPr>
          <a:xfrm>
            <a:off x="548640" y="868680"/>
            <a:ext cx="27428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ounded Rectangle 3"/>
          <p:cNvSpPr/>
          <p:nvPr/>
        </p:nvSpPr>
        <p:spPr>
          <a:xfrm>
            <a:off x="548640" y="1280160"/>
            <a:ext cx="5303160" cy="201132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822960" y="137160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5cb8ff"/>
                </a:solidFill>
                <a:latin typeface="맑은 고딕"/>
              </a:rPr>
              <a:t>목표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822960" y="1828800"/>
            <a:ext cx="475452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ROS2 + Gazebo + PX4 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시뮬레이션 환경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SAC 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강화학습으로 드론 정밀투하 정책 학습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zh-CN" sz="1500" spc="-1" strike="noStrike">
                <a:solidFill>
                  <a:srgbClr val="aaaabb"/>
                </a:solidFill>
                <a:latin typeface="맑은 고딕"/>
              </a:rPr>
              <a:t>고정 타겟 </a:t>
            </a:r>
            <a:r>
              <a:rPr b="0" lang="en-US" sz="1500" spc="-1" strike="noStrike">
                <a:solidFill>
                  <a:srgbClr val="aaaabb"/>
                </a:solidFill>
                <a:latin typeface="맑은 고딕"/>
              </a:rPr>
              <a:t>(11m, 10m) ENU </a:t>
            </a:r>
            <a:r>
              <a:rPr b="0" lang="zh-CN" sz="1500" spc="-1" strike="noStrike">
                <a:solidFill>
                  <a:srgbClr val="aaaabb"/>
                </a:solidFill>
                <a:latin typeface="맑은 고딕"/>
              </a:rPr>
              <a:t>좌표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ounded Rectangle 6"/>
          <p:cNvSpPr/>
          <p:nvPr/>
        </p:nvSpPr>
        <p:spPr>
          <a:xfrm>
            <a:off x="6217920" y="1280160"/>
            <a:ext cx="5303160" cy="201132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6492240" y="137160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5cb8ff"/>
                </a:solidFill>
                <a:latin typeface="맑은 고딕"/>
              </a:rPr>
              <a:t>시뮬레이션 환경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6492240" y="1828800"/>
            <a:ext cx="475452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Gazebo Harmonic (Docker)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PX4 SITL 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비행제어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Stable-Baselines3 SAC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ounded Rectangle 9"/>
          <p:cNvSpPr/>
          <p:nvPr/>
        </p:nvSpPr>
        <p:spPr>
          <a:xfrm>
            <a:off x="548640" y="3566160"/>
            <a:ext cx="5303160" cy="27428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822960" y="365760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5cb8ff"/>
                </a:solidFill>
                <a:latin typeface="맑은 고딕"/>
              </a:rPr>
              <a:t>에이전트 설계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822960" y="4114800"/>
            <a:ext cx="47545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관측 </a:t>
            </a: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(17</a:t>
            </a: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차원</a:t>
            </a: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 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위치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,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속도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,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각속도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,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타겟 상대좌표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 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CCIP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예측 낙하점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,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탄착 예상시간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행동 </a:t>
            </a: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(5</a:t>
            </a: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차원</a:t>
            </a: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 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vx, vy, vz, yaw rate,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투하 결정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ounded Rectangle 12"/>
          <p:cNvSpPr/>
          <p:nvPr/>
        </p:nvSpPr>
        <p:spPr>
          <a:xfrm>
            <a:off x="6217920" y="3566160"/>
            <a:ext cx="5303160" cy="27428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6492240" y="365760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5cb8ff"/>
                </a:solidFill>
                <a:latin typeface="맑은 고딕"/>
              </a:rPr>
              <a:t>학습 규모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6492240" y="4114800"/>
            <a:ext cx="475452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150k~200k step / 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약 </a:t>
            </a: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1,000~1,500 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에피소드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에피소드 </a:t>
            </a: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1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회 </a:t>
            </a: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= 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최대 </a:t>
            </a: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500 step (~25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초</a:t>
            </a: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aaaabb"/>
                </a:solidFill>
                <a:latin typeface="맑은 고딕"/>
              </a:rPr>
              <a:t>20Hz </a:t>
            </a:r>
            <a:r>
              <a:rPr b="0" lang="zh-CN" sz="1500" spc="-1" strike="noStrike">
                <a:solidFill>
                  <a:srgbClr val="aaaabb"/>
                </a:solidFill>
                <a:latin typeface="맑은 고딕"/>
              </a:rPr>
              <a:t>제어 루프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어떤 문제들을 겪었는가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ounded Rectangle 2"/>
          <p:cNvSpPr/>
          <p:nvPr/>
        </p:nvSpPr>
        <p:spPr>
          <a:xfrm>
            <a:off x="548640" y="868680"/>
            <a:ext cx="45716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548640" y="118872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pc="-1" strike="noStrike">
                <a:solidFill>
                  <a:srgbClr val="aaaabb"/>
                </a:solidFill>
                <a:latin typeface="맑은 고딕"/>
              </a:rPr>
              <a:t>총 </a:t>
            </a:r>
            <a:r>
              <a:rPr b="0" lang="en-US" sz="1800" spc="-1" strike="noStrike">
                <a:solidFill>
                  <a:srgbClr val="aaaabb"/>
                </a:solidFill>
                <a:latin typeface="맑은 고딕"/>
              </a:rPr>
              <a:t>7</a:t>
            </a:r>
            <a:r>
              <a:rPr b="0" lang="zh-CN" sz="1800" spc="-1" strike="noStrike">
                <a:solidFill>
                  <a:srgbClr val="aaaabb"/>
                </a:solidFill>
                <a:latin typeface="맑은 고딕"/>
              </a:rPr>
              <a:t>회 학습을 거치며 세 가지 유형의 실패를 경험했다</a:t>
            </a:r>
            <a:r>
              <a:rPr b="0" lang="en-US" sz="1800" spc="-1" strike="noStrike">
                <a:solidFill>
                  <a:srgbClr val="aaaabb"/>
                </a:solidFill>
                <a:latin typeface="맑은 고딕"/>
              </a:rPr>
              <a:t>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ounded Rectangle 4"/>
          <p:cNvSpPr/>
          <p:nvPr/>
        </p:nvSpPr>
        <p:spPr>
          <a:xfrm>
            <a:off x="548640" y="1920240"/>
            <a:ext cx="3382920" cy="438876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822960" y="2103120"/>
            <a:ext cx="2834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ff6b6b"/>
                </a:solidFill>
                <a:latin typeface="맑은 고딕"/>
              </a:rPr>
              <a:t>유형 </a:t>
            </a:r>
            <a:r>
              <a:rPr b="1" lang="en-US" sz="2000" spc="-1" strike="noStrike">
                <a:solidFill>
                  <a:srgbClr val="ff6b6b"/>
                </a:solidFill>
                <a:latin typeface="맑은 고딕"/>
              </a:rPr>
              <a:t>1: </a:t>
            </a:r>
            <a:r>
              <a:rPr b="1" lang="zh-CN" sz="2000" spc="-1" strike="noStrike">
                <a:solidFill>
                  <a:srgbClr val="ff6b6b"/>
                </a:solidFill>
                <a:latin typeface="맑은 고딕"/>
              </a:rPr>
              <a:t>인프라 결함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822960" y="2743200"/>
            <a:ext cx="2834280" cy="21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CCIP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예측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1m vs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실제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14.87m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6b6b"/>
                </a:solidFill>
                <a:latin typeface="맑은 고딕"/>
              </a:rPr>
              <a:t>→ </a:t>
            </a:r>
            <a:r>
              <a:rPr b="1" lang="en-US" sz="1400" spc="-1" strike="noStrike">
                <a:solidFill>
                  <a:srgbClr val="ff6b6b"/>
                </a:solidFill>
                <a:latin typeface="맑은 고딕"/>
              </a:rPr>
              <a:t>14m </a:t>
            </a:r>
            <a:r>
              <a:rPr b="1" lang="zh-CN" sz="1400" spc="-1" strike="noStrike">
                <a:solidFill>
                  <a:srgbClr val="ff6b6b"/>
                </a:solidFill>
                <a:latin typeface="맑은 고딕"/>
              </a:rPr>
              <a:t>체계적 오차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원인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: spin thread crash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로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ROS2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콜백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freeze, CCIP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오염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51e098"/>
                </a:solidFill>
                <a:latin typeface="맑은 고딕"/>
              </a:rPr>
              <a:t>해결</a:t>
            </a:r>
            <a:r>
              <a:rPr b="0" lang="en-US" sz="1400" spc="-1" strike="noStrike">
                <a:solidFill>
                  <a:srgbClr val="51e098"/>
                </a:solidFill>
                <a:latin typeface="맑은 고딕"/>
              </a:rPr>
              <a:t>: jekyun_v2 </a:t>
            </a:r>
            <a:r>
              <a:rPr b="0" lang="zh-CN" sz="1400" spc="-1" strike="noStrike">
                <a:solidFill>
                  <a:srgbClr val="51e098"/>
                </a:solidFill>
                <a:latin typeface="맑은 고딕"/>
              </a:rPr>
              <a:t>인프라 패치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51e098"/>
                </a:solidFill>
                <a:latin typeface="맑은 고딕"/>
              </a:rPr>
              <a:t>→ </a:t>
            </a:r>
            <a:r>
              <a:rPr b="0" lang="zh-CN" sz="1400" spc="-1" strike="noStrike">
                <a:solidFill>
                  <a:srgbClr val="51e098"/>
                </a:solidFill>
                <a:latin typeface="맑은 고딕"/>
              </a:rPr>
              <a:t>오차 해소 확인 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ounded Rectangle 7"/>
          <p:cNvSpPr/>
          <p:nvPr/>
        </p:nvSpPr>
        <p:spPr>
          <a:xfrm>
            <a:off x="4389120" y="1920240"/>
            <a:ext cx="3382920" cy="438876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4663440" y="2103120"/>
            <a:ext cx="2834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ff6b6b"/>
                </a:solidFill>
                <a:latin typeface="맑은 고딕"/>
              </a:rPr>
              <a:t>유형 </a:t>
            </a:r>
            <a:r>
              <a:rPr b="1" lang="en-US" sz="2000" spc="-1" strike="noStrike">
                <a:solidFill>
                  <a:srgbClr val="ff6b6b"/>
                </a:solidFill>
                <a:latin typeface="맑은 고딕"/>
              </a:rPr>
              <a:t>2: Critic </a:t>
            </a:r>
            <a:r>
              <a:rPr b="1" lang="zh-CN" sz="2000" spc="-1" strike="noStrike">
                <a:solidFill>
                  <a:srgbClr val="ff6b6b"/>
                </a:solidFill>
                <a:latin typeface="맑은 고딕"/>
              </a:rPr>
              <a:t>발산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4663440" y="2743200"/>
            <a:ext cx="2834280" cy="21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critic loss 17,000 (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정상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~100)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6b6b"/>
                </a:solidFill>
                <a:latin typeface="맑은 고딕"/>
              </a:rPr>
              <a:t>→ </a:t>
            </a:r>
            <a:r>
              <a:rPr b="1" lang="zh-CN" sz="1400" spc="-1" strike="noStrike">
                <a:solidFill>
                  <a:srgbClr val="ff6b6b"/>
                </a:solidFill>
                <a:latin typeface="맑은 고딕"/>
              </a:rPr>
              <a:t>정책 완전 붕괴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원인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: gradient_steps=4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와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큰 터미널 보상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(+350)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충돌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51e098"/>
                </a:solidFill>
                <a:latin typeface="맑은 고딕"/>
              </a:rPr>
              <a:t>해결</a:t>
            </a:r>
            <a:r>
              <a:rPr b="0" lang="en-US" sz="1400" spc="-1" strike="noStrike">
                <a:solidFill>
                  <a:srgbClr val="51e098"/>
                </a:solidFill>
                <a:latin typeface="맑은 고딕"/>
              </a:rPr>
              <a:t>: gradient_steps 4 → 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51e098"/>
                </a:solidFill>
                <a:latin typeface="맑은 고딕"/>
              </a:rPr>
              <a:t>→ </a:t>
            </a:r>
            <a:r>
              <a:rPr b="0" lang="en-US" sz="1400" spc="-1" strike="noStrike">
                <a:solidFill>
                  <a:srgbClr val="51e098"/>
                </a:solidFill>
                <a:latin typeface="맑은 고딕"/>
              </a:rPr>
              <a:t>critic </a:t>
            </a:r>
            <a:r>
              <a:rPr b="0" lang="zh-CN" sz="1400" spc="-1" strike="noStrike">
                <a:solidFill>
                  <a:srgbClr val="51e098"/>
                </a:solidFill>
                <a:latin typeface="맑은 고딕"/>
              </a:rPr>
              <a:t>안정화 확인 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10"/>
          <p:cNvSpPr/>
          <p:nvPr/>
        </p:nvSpPr>
        <p:spPr>
          <a:xfrm>
            <a:off x="8229600" y="1920240"/>
            <a:ext cx="3382920" cy="438876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d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8503920" y="2103120"/>
            <a:ext cx="2834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ffd93d"/>
                </a:solidFill>
                <a:latin typeface="맑은 고딕"/>
              </a:rPr>
              <a:t>유형 </a:t>
            </a:r>
            <a:r>
              <a:rPr b="1" lang="en-US" sz="2000" spc="-1" strike="noStrike">
                <a:solidFill>
                  <a:srgbClr val="ffd93d"/>
                </a:solidFill>
                <a:latin typeface="맑은 고딕"/>
              </a:rPr>
              <a:t>3: </a:t>
            </a:r>
            <a:r>
              <a:rPr b="1" lang="zh-CN" sz="2000" spc="-1" strike="noStrike">
                <a:solidFill>
                  <a:srgbClr val="ffd93d"/>
                </a:solidFill>
                <a:latin typeface="맑은 고딕"/>
              </a:rPr>
              <a:t>정밀도 정체 ★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8503920" y="2743200"/>
            <a:ext cx="2834280" cy="26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drop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은 발생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(220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회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/112k step)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6b6b"/>
                </a:solidFill>
                <a:latin typeface="맑은 고딕"/>
              </a:rPr>
              <a:t>→ </a:t>
            </a:r>
            <a:r>
              <a:rPr b="1" lang="zh-CN" sz="1400" spc="-1" strike="noStrike">
                <a:solidFill>
                  <a:srgbClr val="ff6b6b"/>
                </a:solidFill>
                <a:latin typeface="맑은 고딕"/>
              </a:rPr>
              <a:t>오차 </a:t>
            </a:r>
            <a:r>
              <a:rPr b="1" lang="en-US" sz="1400" spc="-1" strike="noStrike">
                <a:solidFill>
                  <a:srgbClr val="ff6b6b"/>
                </a:solidFill>
                <a:latin typeface="맑은 고딕"/>
              </a:rPr>
              <a:t>13m</a:t>
            </a:r>
            <a:r>
              <a:rPr b="1" lang="zh-CN" sz="1400" spc="-1" strike="noStrike">
                <a:solidFill>
                  <a:srgbClr val="ff6b6b"/>
                </a:solidFill>
                <a:latin typeface="맑은 고딕"/>
              </a:rPr>
              <a:t>에서 수렴</a:t>
            </a:r>
            <a:r>
              <a:rPr b="1" lang="en-US" sz="1400" spc="-1" strike="noStrike">
                <a:solidFill>
                  <a:srgbClr val="ff6b6b"/>
                </a:solidFill>
                <a:latin typeface="맑은 고딕"/>
              </a:rPr>
              <a:t>, </a:t>
            </a:r>
            <a:r>
              <a:rPr b="1" lang="zh-CN" sz="1400" spc="-1" strike="noStrike">
                <a:solidFill>
                  <a:srgbClr val="ff6b6b"/>
                </a:solidFill>
                <a:latin typeface="맑은 고딕"/>
              </a:rPr>
              <a:t>개선 없음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6b6b"/>
                </a:solidFill>
                <a:latin typeface="맑은 고딕"/>
              </a:rPr>
              <a:t>→ </a:t>
            </a:r>
            <a:r>
              <a:rPr b="1" lang="zh-CN" sz="1400" spc="-1" strike="noStrike">
                <a:solidFill>
                  <a:srgbClr val="ff6b6b"/>
                </a:solidFill>
                <a:latin typeface="맑은 고딕"/>
              </a:rPr>
              <a:t>성공</a:t>
            </a:r>
            <a:r>
              <a:rPr b="1" lang="en-US" sz="1400" spc="-1" strike="noStrike">
                <a:solidFill>
                  <a:srgbClr val="ff6b6b"/>
                </a:solidFill>
                <a:latin typeface="맑은 고딕"/>
              </a:rPr>
              <a:t>(≤0.5m) 0</a:t>
            </a:r>
            <a:r>
              <a:rPr b="1" lang="zh-CN" sz="1400" spc="-1" strike="noStrike">
                <a:solidFill>
                  <a:srgbClr val="ff6b6b"/>
                </a:solidFill>
                <a:latin typeface="맑은 고딕"/>
              </a:rPr>
              <a:t>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근본 원인 </a:t>
            </a: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4</a:t>
            </a: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가지</a:t>
            </a: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①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보상이 정밀도에 둔감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②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보상 스케일 과대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③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auto-drop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이 학습 차단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④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종료 조건 부족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보상 함수 — </a:t>
            </a:r>
            <a:r>
              <a:rPr b="1" lang="en-US" sz="3200" spc="-1" strike="noStrike">
                <a:solidFill>
                  <a:srgbClr val="5cb8ff"/>
                </a:solidFill>
                <a:latin typeface="맑은 고딕"/>
              </a:rPr>
              <a:t>4-Layer </a:t>
            </a: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구조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ounded Rectangle 2"/>
          <p:cNvSpPr/>
          <p:nvPr/>
        </p:nvSpPr>
        <p:spPr>
          <a:xfrm>
            <a:off x="548640" y="868680"/>
            <a:ext cx="45716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548640" y="1280160"/>
            <a:ext cx="2605680" cy="45716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731520" y="1417320"/>
            <a:ext cx="223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6b6b"/>
                </a:solidFill>
                <a:latin typeface="맑은 고딕"/>
              </a:rPr>
              <a:t>Layer 1: </a:t>
            </a:r>
            <a:r>
              <a:rPr b="1" lang="zh-CN" sz="1800" spc="-1" strike="noStrike">
                <a:solidFill>
                  <a:srgbClr val="ff6b6b"/>
                </a:solidFill>
                <a:latin typeface="맑은 고딕"/>
              </a:rPr>
              <a:t>안전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731520" y="1783080"/>
            <a:ext cx="2239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aaaabb"/>
                </a:solidFill>
                <a:latin typeface="맑은 고딕"/>
              </a:rPr>
              <a:t>매 </a:t>
            </a:r>
            <a:r>
              <a:rPr b="0" lang="en-US" sz="1200" spc="-1" strike="noStrike">
                <a:solidFill>
                  <a:srgbClr val="aaaabb"/>
                </a:solidFill>
                <a:latin typeface="맑은 고딕"/>
              </a:rPr>
              <a:t>step · </a:t>
            </a:r>
            <a:r>
              <a:rPr b="0" lang="zh-CN" sz="1200" spc="-1" strike="noStrike">
                <a:solidFill>
                  <a:srgbClr val="aaaabb"/>
                </a:solidFill>
                <a:latin typeface="맑은 고딕"/>
              </a:rPr>
              <a:t>에피소드 종료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731520" y="2194560"/>
            <a:ext cx="2239920" cy="17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crash    -50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overspeed  -30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뒤집힘    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-30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zh-CN" sz="1300" spc="-1" strike="noStrike">
                <a:solidFill>
                  <a:srgbClr val="51e098"/>
                </a:solidFill>
                <a:latin typeface="맑은 고딕"/>
              </a:rPr>
              <a:t>스케일 축소 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aaaabb"/>
                </a:solidFill>
                <a:latin typeface="맑은 고딕"/>
              </a:rPr>
              <a:t>이전 </a:t>
            </a:r>
            <a:r>
              <a:rPr b="0" lang="en-US" sz="1300" spc="-1" strike="noStrike">
                <a:solidFill>
                  <a:srgbClr val="aaaabb"/>
                </a:solidFill>
                <a:latin typeface="맑은 고딕"/>
              </a:rPr>
              <a:t>-100~-50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51e098"/>
                </a:solidFill>
                <a:latin typeface="맑은 고딕"/>
              </a:rPr>
              <a:t>현재  </a:t>
            </a:r>
            <a:r>
              <a:rPr b="0" lang="en-US" sz="1300" spc="-1" strike="noStrike">
                <a:solidFill>
                  <a:srgbClr val="51e098"/>
                </a:solidFill>
                <a:latin typeface="맑은 고딕"/>
              </a:rPr>
              <a:t>-50~-30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ounded Rectangle 7"/>
          <p:cNvSpPr/>
          <p:nvPr/>
        </p:nvSpPr>
        <p:spPr>
          <a:xfrm>
            <a:off x="3429000" y="1280160"/>
            <a:ext cx="2605680" cy="45716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3611880" y="1417320"/>
            <a:ext cx="223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aaaabb"/>
                </a:solidFill>
                <a:latin typeface="맑은 고딕"/>
              </a:rPr>
              <a:t>Layer 2: </a:t>
            </a:r>
            <a:r>
              <a:rPr b="1" lang="zh-CN" sz="1800" spc="-1" strike="noStrike">
                <a:solidFill>
                  <a:srgbClr val="aaaabb"/>
                </a:solidFill>
                <a:latin typeface="맑은 고딕"/>
              </a:rPr>
              <a:t>안정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3611880" y="1783080"/>
            <a:ext cx="2239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aaaabb"/>
                </a:solidFill>
                <a:latin typeface="맑은 고딕"/>
              </a:rPr>
              <a:t>매 </a:t>
            </a:r>
            <a:r>
              <a:rPr b="0" lang="en-US" sz="1200" spc="-1" strike="noStrike">
                <a:solidFill>
                  <a:srgbClr val="aaaabb"/>
                </a:solidFill>
                <a:latin typeface="맑은 고딕"/>
              </a:rPr>
              <a:t>step · </a:t>
            </a:r>
            <a:r>
              <a:rPr b="0" lang="zh-CN" sz="1200" spc="-1" strike="noStrike">
                <a:solidFill>
                  <a:srgbClr val="aaaabb"/>
                </a:solidFill>
                <a:latin typeface="맑은 고딕"/>
              </a:rPr>
              <a:t>변경 없음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3611880" y="2194560"/>
            <a:ext cx="2239920" cy="14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시간 지연    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-0.05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기체 불안정  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-0.05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급격 조작    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-0.05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aaaabb"/>
                </a:solidFill>
                <a:latin typeface="맑은 고딕"/>
              </a:rPr>
              <a:t>변경 없음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aaaabb"/>
                </a:solidFill>
                <a:latin typeface="맑은 고딕"/>
              </a:rPr>
              <a:t>안정적으로 동작 중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ounded Rectangle 11"/>
          <p:cNvSpPr/>
          <p:nvPr/>
        </p:nvSpPr>
        <p:spPr>
          <a:xfrm>
            <a:off x="6309360" y="1280160"/>
            <a:ext cx="2605680" cy="45716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6492240" y="1417320"/>
            <a:ext cx="223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aaaabb"/>
                </a:solidFill>
                <a:latin typeface="맑은 고딕"/>
              </a:rPr>
              <a:t>Layer 3: </a:t>
            </a:r>
            <a:r>
              <a:rPr b="1" lang="zh-CN" sz="1800" spc="-1" strike="noStrike">
                <a:solidFill>
                  <a:srgbClr val="aaaabb"/>
                </a:solidFill>
                <a:latin typeface="맑은 고딕"/>
              </a:rPr>
              <a:t>접근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6492240" y="1783080"/>
            <a:ext cx="2239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aaaabb"/>
                </a:solidFill>
                <a:latin typeface="맑은 고딕"/>
              </a:rPr>
              <a:t>매 </a:t>
            </a:r>
            <a:r>
              <a:rPr b="0" lang="en-US" sz="1200" spc="-1" strike="noStrike">
                <a:solidFill>
                  <a:srgbClr val="aaaabb"/>
                </a:solidFill>
                <a:latin typeface="맑은 고딕"/>
              </a:rPr>
              <a:t>step · </a:t>
            </a:r>
            <a:r>
              <a:rPr b="0" lang="zh-CN" sz="1200" spc="-1" strike="noStrike">
                <a:solidFill>
                  <a:srgbClr val="aaaabb"/>
                </a:solidFill>
                <a:latin typeface="맑은 고딕"/>
              </a:rPr>
              <a:t>변경 없음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14"/>
          <p:cNvSpPr/>
          <p:nvPr/>
        </p:nvSpPr>
        <p:spPr>
          <a:xfrm>
            <a:off x="6492240" y="2194560"/>
            <a:ext cx="2239920" cy="21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거리 감소 보상  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+0.5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방향 정렬      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+0.7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CCIP </a:t>
            </a: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정확도    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+0.4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aaaabb"/>
                </a:solidFill>
                <a:latin typeface="맑은 고딕"/>
              </a:rPr>
              <a:t>speed_gate</a:t>
            </a:r>
            <a:r>
              <a:rPr b="0" lang="zh-CN" sz="1300" spc="-1" strike="noStrike">
                <a:solidFill>
                  <a:srgbClr val="aaaabb"/>
                </a:solidFill>
                <a:latin typeface="맑은 고딕"/>
              </a:rPr>
              <a:t>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aaaabb"/>
                </a:solidFill>
                <a:latin typeface="맑은 고딕"/>
              </a:rPr>
              <a:t>제자리 보상 축적 차단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300" spc="-1" strike="noStrike">
                <a:solidFill>
                  <a:srgbClr val="aaaabb"/>
                </a:solidFill>
                <a:latin typeface="맑은 고딕"/>
              </a:rPr>
              <a:t>신호 자체는 정상</a:t>
            </a:r>
            <a:r>
              <a:rPr b="0" lang="en-US" sz="1300" spc="-1" strike="noStrike">
                <a:solidFill>
                  <a:srgbClr val="aaaabb"/>
                </a:solidFill>
                <a:latin typeface="맑은 고딕"/>
              </a:rPr>
              <a:t>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ffd93d"/>
                </a:solidFill>
                <a:latin typeface="맑은 고딕"/>
              </a:rPr>
              <a:t>Layer 4</a:t>
            </a:r>
            <a:r>
              <a:rPr b="0" lang="zh-CN" sz="1300" spc="-1" strike="noStrike">
                <a:solidFill>
                  <a:srgbClr val="ffd93d"/>
                </a:solidFill>
                <a:latin typeface="맑은 고딕"/>
              </a:rPr>
              <a:t>가 덮어버린 게 문제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ounded Rectangle 15"/>
          <p:cNvSpPr/>
          <p:nvPr/>
        </p:nvSpPr>
        <p:spPr>
          <a:xfrm>
            <a:off x="9189720" y="1280160"/>
            <a:ext cx="2605680" cy="45716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d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16"/>
          <p:cNvSpPr/>
          <p:nvPr/>
        </p:nvSpPr>
        <p:spPr>
          <a:xfrm>
            <a:off x="9372600" y="1417320"/>
            <a:ext cx="223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d93d"/>
                </a:solidFill>
                <a:latin typeface="맑은 고딕"/>
              </a:rPr>
              <a:t>Layer 4: </a:t>
            </a:r>
            <a:r>
              <a:rPr b="1" lang="zh-CN" sz="1800" spc="-1" strike="noStrike">
                <a:solidFill>
                  <a:srgbClr val="ffd93d"/>
                </a:solidFill>
                <a:latin typeface="맑은 고딕"/>
              </a:rPr>
              <a:t>투하 ★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17"/>
          <p:cNvSpPr/>
          <p:nvPr/>
        </p:nvSpPr>
        <p:spPr>
          <a:xfrm>
            <a:off x="9372600" y="1783080"/>
            <a:ext cx="2239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d93d"/>
                </a:solidFill>
                <a:latin typeface="맑은 고딕"/>
              </a:rPr>
              <a:t>drop </a:t>
            </a:r>
            <a:r>
              <a:rPr b="0" lang="zh-CN" sz="1200" spc="-1" strike="noStrike">
                <a:solidFill>
                  <a:srgbClr val="ffd93d"/>
                </a:solidFill>
                <a:latin typeface="맑은 고딕"/>
              </a:rPr>
              <a:t>시점 </a:t>
            </a:r>
            <a:r>
              <a:rPr b="0" lang="en-US" sz="1200" spc="-1" strike="noStrike">
                <a:solidFill>
                  <a:srgbClr val="ffd93d"/>
                </a:solidFill>
                <a:latin typeface="맑은 고딕"/>
              </a:rPr>
              <a:t>· </a:t>
            </a:r>
            <a:r>
              <a:rPr b="0" lang="zh-CN" sz="1200" spc="-1" strike="noStrike">
                <a:solidFill>
                  <a:srgbClr val="ffd93d"/>
                </a:solidFill>
                <a:latin typeface="맑은 고딕"/>
              </a:rPr>
              <a:t>핵심 변경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18"/>
          <p:cNvSpPr/>
          <p:nvPr/>
        </p:nvSpPr>
        <p:spPr>
          <a:xfrm>
            <a:off x="9372600" y="2194560"/>
            <a:ext cx="2239920" cy="19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300" spc="-1" strike="noStrike">
                <a:solidFill>
                  <a:srgbClr val="51e098"/>
                </a:solidFill>
                <a:latin typeface="맑은 고딕"/>
              </a:rPr>
              <a:t>proximity bonus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300" spc="-1" strike="noStrike">
                <a:solidFill>
                  <a:srgbClr val="51e098"/>
                </a:solidFill>
                <a:latin typeface="맑은 고딕"/>
              </a:rPr>
              <a:t>precision (k2 </a:t>
            </a:r>
            <a:r>
              <a:rPr b="1" lang="zh-CN" sz="1300" spc="-1" strike="noStrike">
                <a:solidFill>
                  <a:srgbClr val="51e098"/>
                </a:solidFill>
                <a:latin typeface="맑은 고딕"/>
              </a:rPr>
              <a:t>강화</a:t>
            </a:r>
            <a:r>
              <a:rPr b="1" lang="en-US" sz="1300" spc="-1" strike="noStrike">
                <a:solidFill>
                  <a:srgbClr val="51e098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zh-CN" sz="1300" spc="-1" strike="noStrike">
                <a:solidFill>
                  <a:srgbClr val="51e098"/>
                </a:solidFill>
                <a:latin typeface="맑은 고딕"/>
              </a:rPr>
              <a:t>예측 정확도 </a:t>
            </a:r>
            <a:r>
              <a:rPr b="1" lang="en-US" sz="1300" spc="-1" strike="noStrike">
                <a:solidFill>
                  <a:srgbClr val="51e098"/>
                </a:solidFill>
                <a:latin typeface="맑은 고딕"/>
              </a:rPr>
              <a:t>bonus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jackpot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zh-CN" sz="1300" spc="-1" strike="noStrike">
                <a:solidFill>
                  <a:srgbClr val="ffd93d"/>
                </a:solidFill>
                <a:latin typeface="맑은 고딕"/>
              </a:rPr>
              <a:t>이번 </a:t>
            </a:r>
            <a:r>
              <a:rPr b="1" lang="en-US" sz="1300" spc="-1" strike="noStrike">
                <a:solidFill>
                  <a:srgbClr val="ffd93d"/>
                </a:solidFill>
                <a:latin typeface="맑은 고딕"/>
              </a:rPr>
              <a:t>Round 1</a:t>
            </a:r>
            <a:r>
              <a:rPr b="1" lang="zh-CN" sz="1300" spc="-1" strike="noStrike">
                <a:solidFill>
                  <a:srgbClr val="ffd93d"/>
                </a:solidFill>
                <a:latin typeface="맑은 고딕"/>
              </a:rPr>
              <a:t>의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zh-CN" sz="1300" spc="-1" strike="noStrike">
                <a:solidFill>
                  <a:srgbClr val="ffd93d"/>
                </a:solidFill>
                <a:latin typeface="맑은 고딕"/>
              </a:rPr>
              <a:t>핵심 변경 대상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ffd93d"/>
                </a:solidFill>
                <a:latin typeface="맑은 고딕"/>
              </a:rPr>
              <a:t>→ </a:t>
            </a:r>
            <a:r>
              <a:rPr b="0" lang="zh-CN" sz="1300" spc="-1" strike="noStrike">
                <a:solidFill>
                  <a:srgbClr val="ffd93d"/>
                </a:solidFill>
                <a:latin typeface="맑은 고딕"/>
              </a:rPr>
              <a:t>다음 슬라이드 상세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19"/>
          <p:cNvSpPr/>
          <p:nvPr/>
        </p:nvSpPr>
        <p:spPr>
          <a:xfrm>
            <a:off x="548640" y="6126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Layer 1~3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은 매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step, Layer 4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는 투하 시점에 한 번 부여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투하 보상 — 이전 설계의 문제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Rounded Rectangle 2"/>
          <p:cNvSpPr/>
          <p:nvPr/>
        </p:nvSpPr>
        <p:spPr>
          <a:xfrm>
            <a:off x="548640" y="868680"/>
            <a:ext cx="54860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ounded Rectangle 3"/>
          <p:cNvSpPr/>
          <p:nvPr/>
        </p:nvSpPr>
        <p:spPr>
          <a:xfrm>
            <a:off x="548640" y="1280160"/>
            <a:ext cx="10972440" cy="127980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914400" y="137160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aaabb"/>
                </a:solidFill>
                <a:latin typeface="맑은 고딕"/>
              </a:rPr>
              <a:t>이전 수식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914400" y="1828800"/>
            <a:ext cx="10058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onsolas"/>
              </a:rPr>
              <a:t>R4  =  150  +  100 × exp(-0.3 × d_error)  +  100 × [d_error ≤ 0.1m]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ounded Rectangle 6"/>
          <p:cNvSpPr/>
          <p:nvPr/>
        </p:nvSpPr>
        <p:spPr>
          <a:xfrm>
            <a:off x="548640" y="2926080"/>
            <a:ext cx="5303160" cy="329148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822960" y="301752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ff6b6b"/>
                </a:solidFill>
                <a:latin typeface="맑은 고딕"/>
              </a:rPr>
              <a:t>무엇이 문제였나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822960" y="3566160"/>
            <a:ext cx="4754520" cy="25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bonus 150 → drop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만 하면 무조건 지급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k2=0.3 → decay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가 완만해서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15m drop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과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5m drop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의 차이가 겨우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21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이미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150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을 확보한 에이전트 입장에서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21</a:t>
            </a: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을 더 얻으려 위험을 감수할 이유가 없다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터미널 범위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-100~+350 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6b6b"/>
                </a:solidFill>
                <a:latin typeface="맑은 고딕"/>
              </a:rPr>
              <a:t>매 </a:t>
            </a:r>
            <a:r>
              <a:rPr b="0" lang="en-US" sz="1400" spc="-1" strike="noStrike">
                <a:solidFill>
                  <a:srgbClr val="ff6b6b"/>
                </a:solidFill>
                <a:latin typeface="맑은 고딕"/>
              </a:rPr>
              <a:t>step </a:t>
            </a:r>
            <a:r>
              <a:rPr b="0" lang="zh-CN" sz="1400" spc="-1" strike="noStrike">
                <a:solidFill>
                  <a:srgbClr val="ff6b6b"/>
                </a:solidFill>
                <a:latin typeface="맑은 고딕"/>
              </a:rPr>
              <a:t>접근 신호를 </a:t>
            </a:r>
            <a:r>
              <a:rPr b="0" lang="en-US" sz="1400" spc="-1" strike="noStrike">
                <a:solidFill>
                  <a:srgbClr val="ff6b6b"/>
                </a:solidFill>
                <a:latin typeface="맑은 고딕"/>
              </a:rPr>
              <a:t>critic</a:t>
            </a:r>
            <a:r>
              <a:rPr b="0" lang="zh-CN" sz="1400" spc="-1" strike="noStrike">
                <a:solidFill>
                  <a:srgbClr val="ff6b6b"/>
                </a:solidFill>
                <a:latin typeface="맑은 고딕"/>
              </a:rPr>
              <a:t>이 무시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24" name="Table 9"/>
          <p:cNvGraphicFramePr/>
          <p:nvPr/>
        </p:nvGraphicFramePr>
        <p:xfrm>
          <a:off x="6217920" y="2926080"/>
          <a:ext cx="530316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56032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d_error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보상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0m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350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jackpot 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포함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5m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172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ddddee"/>
                        </a:solidFill>
                        <a:latin typeface="맑은 고딕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10m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155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ddddee"/>
                        </a:solidFill>
                        <a:latin typeface="맑은 고딕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15m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151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← 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학습 수렴점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50m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150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← 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bonus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만으로 충분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</a:tbl>
          </a:graphicData>
        </a:graphic>
      </p:graphicFrame>
      <p:sp>
        <p:nvSpPr>
          <p:cNvPr id="125" name="TextBox 10"/>
          <p:cNvSpPr/>
          <p:nvPr/>
        </p:nvSpPr>
        <p:spPr>
          <a:xfrm>
            <a:off x="6217920" y="5852160"/>
            <a:ext cx="5303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6b6b"/>
                </a:solidFill>
                <a:latin typeface="맑은 고딕"/>
              </a:rPr>
              <a:t>0m(350)</a:t>
            </a:r>
            <a:r>
              <a:rPr b="1" lang="zh-CN" sz="1600" spc="-1" strike="noStrike">
                <a:solidFill>
                  <a:srgbClr val="ff6b6b"/>
                </a:solidFill>
                <a:latin typeface="맑은 고딕"/>
              </a:rPr>
              <a:t>과 </a:t>
            </a:r>
            <a:r>
              <a:rPr b="1" lang="en-US" sz="1600" spc="-1" strike="noStrike">
                <a:solidFill>
                  <a:srgbClr val="ff6b6b"/>
                </a:solidFill>
                <a:latin typeface="맑은 고딕"/>
              </a:rPr>
              <a:t>50m(150)</a:t>
            </a:r>
            <a:r>
              <a:rPr b="1" lang="zh-CN" sz="1600" spc="-1" strike="noStrike">
                <a:solidFill>
                  <a:srgbClr val="ff6b6b"/>
                </a:solidFill>
                <a:latin typeface="맑은 고딕"/>
              </a:rPr>
              <a:t>의 차이</a:t>
            </a:r>
            <a:r>
              <a:rPr b="1" lang="en-US" sz="1600" spc="-1" strike="noStrike">
                <a:solidFill>
                  <a:srgbClr val="ff6b6b"/>
                </a:solidFill>
                <a:latin typeface="맑은 고딕"/>
              </a:rPr>
              <a:t>: </a:t>
            </a:r>
            <a:r>
              <a:rPr b="1" lang="zh-CN" sz="1600" spc="-1" strike="noStrike">
                <a:solidFill>
                  <a:srgbClr val="ff6b6b"/>
                </a:solidFill>
                <a:latin typeface="맑은 고딕"/>
              </a:rPr>
              <a:t>겨우 </a:t>
            </a:r>
            <a:r>
              <a:rPr b="1" lang="en-US" sz="1600" spc="-1" strike="noStrike">
                <a:solidFill>
                  <a:srgbClr val="ff6b6b"/>
                </a:solidFill>
                <a:latin typeface="맑은 고딕"/>
              </a:rPr>
              <a:t>2.3</a:t>
            </a:r>
            <a:r>
              <a:rPr b="1" lang="zh-CN" sz="1600" spc="-1" strike="noStrike">
                <a:solidFill>
                  <a:srgbClr val="ff6b6b"/>
                </a:solidFill>
                <a:latin typeface="맑은 고딕"/>
              </a:rPr>
              <a:t>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투하 보상 — </a:t>
            </a:r>
            <a:r>
              <a:rPr b="1" lang="en-US" sz="3200" spc="-1" strike="noStrike">
                <a:solidFill>
                  <a:srgbClr val="5cb8ff"/>
                </a:solidFill>
                <a:latin typeface="맑은 고딕"/>
              </a:rPr>
              <a:t>Round 1 </a:t>
            </a: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재설계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ounded Rectangle 2"/>
          <p:cNvSpPr/>
          <p:nvPr/>
        </p:nvSpPr>
        <p:spPr>
          <a:xfrm>
            <a:off x="548640" y="868680"/>
            <a:ext cx="45716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ounded Rectangle 3"/>
          <p:cNvSpPr/>
          <p:nvPr/>
        </p:nvSpPr>
        <p:spPr>
          <a:xfrm>
            <a:off x="548640" y="1188720"/>
            <a:ext cx="10972440" cy="146268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51e09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914400" y="128016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51e098"/>
                </a:solidFill>
                <a:latin typeface="맑은 고딕"/>
              </a:rPr>
              <a:t>현재 수식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914400" y="1691640"/>
            <a:ext cx="1005804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</a:rPr>
              <a:t>R4  =  30 × exp(-0.3 × d_xy)                           proximity bonus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</a:rPr>
              <a:t>    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</a:rPr>
              <a:t>+ 100 × exp(-0.5 × d_error)                        </a:t>
            </a:r>
            <a:r>
              <a:rPr b="0" lang="zh-CN" sz="1400" spc="-1" strike="noStrike">
                <a:solidFill>
                  <a:srgbClr val="ffffff"/>
                </a:solidFill>
                <a:latin typeface="Consolas"/>
              </a:rPr>
              <a:t>정밀도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</a:rPr>
              <a:t>    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</a:rPr>
              <a:t>+ 20 × exp(-0.1 × |d_impact − d_error|)     </a:t>
            </a:r>
            <a:r>
              <a:rPr b="0" lang="zh-CN" sz="1400" spc="-1" strike="noStrike">
                <a:solidFill>
                  <a:srgbClr val="ffffff"/>
                </a:solidFill>
                <a:latin typeface="Consolas"/>
              </a:rPr>
              <a:t>예측 정확도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</a:rPr>
              <a:t>    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</a:rPr>
              <a:t>+ 50 × [d_error ≤ 0.1m]                              jackpot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ounded Rectangle 6"/>
          <p:cNvSpPr/>
          <p:nvPr/>
        </p:nvSpPr>
        <p:spPr>
          <a:xfrm>
            <a:off x="548640" y="3017520"/>
            <a:ext cx="3382920" cy="310860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731520" y="3154680"/>
            <a:ext cx="301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51e098"/>
                </a:solidFill>
                <a:latin typeface="맑은 고딕"/>
              </a:rPr>
              <a:t>① </a:t>
            </a:r>
            <a:r>
              <a:rPr b="1" lang="en-US" sz="1600" spc="-1" strike="noStrike">
                <a:solidFill>
                  <a:srgbClr val="51e098"/>
                </a:solidFill>
                <a:latin typeface="맑은 고딕"/>
              </a:rPr>
              <a:t>Bonus → </a:t>
            </a:r>
            <a:r>
              <a:rPr b="1" lang="zh-CN" sz="1600" spc="-1" strike="noStrike">
                <a:solidFill>
                  <a:srgbClr val="51e098"/>
                </a:solidFill>
                <a:latin typeface="맑은 고딕"/>
              </a:rPr>
              <a:t>거리 의존형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731520" y="3611880"/>
            <a:ext cx="3017160" cy="20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정액 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150 → 30×exp(-0.3×d_xy)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aaaabb"/>
                </a:solidFill>
                <a:latin typeface="맑은 고딕"/>
              </a:rPr>
              <a:t>d_xy 50m → bonus ≈ 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aaaabb"/>
                </a:solidFill>
                <a:latin typeface="맑은 고딕"/>
              </a:rPr>
              <a:t>d_xy 14m → bonus = 0.5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d_xy  5m → bonus = 6.7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d_xy  3m → bonus = 12.2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51e098"/>
                </a:solidFill>
                <a:latin typeface="맑은 고딕"/>
              </a:rPr>
              <a:t>d_xy  0m → bonus = 30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zh-CN" sz="1300" spc="-1" strike="noStrike">
                <a:solidFill>
                  <a:srgbClr val="ffd93d"/>
                </a:solidFill>
                <a:latin typeface="맑은 고딕"/>
              </a:rPr>
              <a:t>가까이 가야 보상을 받는다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ounded Rectangle 9"/>
          <p:cNvSpPr/>
          <p:nvPr/>
        </p:nvSpPr>
        <p:spPr>
          <a:xfrm>
            <a:off x="4389120" y="3017520"/>
            <a:ext cx="3382920" cy="310860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4572000" y="3154680"/>
            <a:ext cx="301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51e098"/>
                </a:solidFill>
                <a:latin typeface="맑은 고딕"/>
              </a:rPr>
              <a:t>② </a:t>
            </a:r>
            <a:r>
              <a:rPr b="1" lang="zh-CN" sz="1600" spc="-1" strike="noStrike">
                <a:solidFill>
                  <a:srgbClr val="51e098"/>
                </a:solidFill>
                <a:latin typeface="맑은 고딕"/>
              </a:rPr>
              <a:t>정밀도 </a:t>
            </a:r>
            <a:r>
              <a:rPr b="1" lang="en-US" sz="1600" spc="-1" strike="noStrike">
                <a:solidFill>
                  <a:srgbClr val="51e098"/>
                </a:solidFill>
                <a:latin typeface="맑은 고딕"/>
              </a:rPr>
              <a:t>decay </a:t>
            </a:r>
            <a:r>
              <a:rPr b="1" lang="zh-CN" sz="1600" spc="-1" strike="noStrike">
                <a:solidFill>
                  <a:srgbClr val="51e098"/>
                </a:solidFill>
                <a:latin typeface="맑은 고딕"/>
              </a:rPr>
              <a:t>강화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4572000" y="3611880"/>
            <a:ext cx="3017160" cy="18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k2: 0.3 → 0.5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d_error 5m:  22 → 8.2  (3</a:t>
            </a: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배↓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d_error 10m:  5 → 0.7  (7</a:t>
            </a: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배↓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d_error 15m:  1 → 0.06 (17</a:t>
            </a: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배↓</a:t>
            </a: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ffd93d"/>
                </a:solidFill>
                <a:latin typeface="맑은 고딕"/>
              </a:rPr>
              <a:t>5m</a:t>
            </a:r>
            <a:r>
              <a:rPr b="1" lang="zh-CN" sz="1300" spc="-1" strike="noStrike">
                <a:solidFill>
                  <a:srgbClr val="ffd93d"/>
                </a:solidFill>
                <a:latin typeface="맑은 고딕"/>
              </a:rPr>
              <a:t>와 </a:t>
            </a:r>
            <a:r>
              <a:rPr b="1" lang="en-US" sz="1300" spc="-1" strike="noStrike">
                <a:solidFill>
                  <a:srgbClr val="ffd93d"/>
                </a:solidFill>
                <a:latin typeface="맑은 고딕"/>
              </a:rPr>
              <a:t>15m</a:t>
            </a:r>
            <a:r>
              <a:rPr b="1" lang="zh-CN" sz="1300" spc="-1" strike="noStrike">
                <a:solidFill>
                  <a:srgbClr val="ffd93d"/>
                </a:solidFill>
                <a:latin typeface="맑은 고딕"/>
              </a:rPr>
              <a:t>는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zh-CN" sz="1300" spc="-1" strike="noStrike">
                <a:solidFill>
                  <a:srgbClr val="ffd93d"/>
                </a:solidFill>
                <a:latin typeface="맑은 고딕"/>
              </a:rPr>
              <a:t>완전히 다른 결과라는 신호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Rounded Rectangle 12"/>
          <p:cNvSpPr/>
          <p:nvPr/>
        </p:nvSpPr>
        <p:spPr>
          <a:xfrm>
            <a:off x="8229600" y="3017520"/>
            <a:ext cx="3382920" cy="310860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3"/>
          <p:cNvSpPr/>
          <p:nvPr/>
        </p:nvSpPr>
        <p:spPr>
          <a:xfrm>
            <a:off x="8412480" y="3154680"/>
            <a:ext cx="301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51e098"/>
                </a:solidFill>
                <a:latin typeface="맑은 고딕"/>
              </a:rPr>
              <a:t>③ </a:t>
            </a:r>
            <a:r>
              <a:rPr b="1" lang="zh-CN" sz="1600" spc="-1" strike="noStrike">
                <a:solidFill>
                  <a:srgbClr val="51e098"/>
                </a:solidFill>
                <a:latin typeface="맑은 고딕"/>
              </a:rPr>
              <a:t>예측 정확도 </a:t>
            </a:r>
            <a:r>
              <a:rPr b="1" lang="en-US" sz="1600" spc="-1" strike="noStrike">
                <a:solidFill>
                  <a:srgbClr val="51e098"/>
                </a:solidFill>
                <a:latin typeface="맑은 고딕"/>
              </a:rPr>
              <a:t>bonus </a:t>
            </a:r>
            <a:r>
              <a:rPr b="1" lang="zh-CN" sz="1600" spc="-1" strike="noStrike">
                <a:solidFill>
                  <a:srgbClr val="51e098"/>
                </a:solidFill>
                <a:latin typeface="맑은 고딕"/>
              </a:rPr>
              <a:t>신규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8412480" y="3611880"/>
            <a:ext cx="3017160" cy="16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20 × exp(-0.1 × |gap|)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aaaabb"/>
                </a:solidFill>
                <a:latin typeface="맑은 고딕"/>
              </a:rPr>
              <a:t>gap = |d_impact − d_error|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aaaabb"/>
                </a:solidFill>
                <a:latin typeface="맑은 고딕"/>
              </a:rPr>
              <a:t>CCIP </a:t>
            </a:r>
            <a:r>
              <a:rPr b="0" lang="zh-CN" sz="1300" spc="-1" strike="noStrike">
                <a:solidFill>
                  <a:srgbClr val="aaaabb"/>
                </a:solidFill>
                <a:latin typeface="맑은 고딕"/>
              </a:rPr>
              <a:t>예측과 실제 오차의 차이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맑은 고딕"/>
              </a:rPr>
              <a:t>CCIP</a:t>
            </a: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를 신뢰할 수 있는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zh-CN" sz="1300" spc="-1" strike="noStrike">
                <a:solidFill>
                  <a:srgbClr val="ffffff"/>
                </a:solidFill>
                <a:latin typeface="맑은 고딕"/>
              </a:rPr>
              <a:t>상황에서 투하하도록 유도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투하 보상 — 이전 </a:t>
            </a:r>
            <a:r>
              <a:rPr b="1" lang="en-US" sz="3200" spc="-1" strike="noStrike">
                <a:solidFill>
                  <a:srgbClr val="5cb8ff"/>
                </a:solidFill>
                <a:latin typeface="맑은 고딕"/>
              </a:rPr>
              <a:t>vs </a:t>
            </a: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현재 비교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Rounded Rectangle 2"/>
          <p:cNvSpPr/>
          <p:nvPr/>
        </p:nvSpPr>
        <p:spPr>
          <a:xfrm>
            <a:off x="548640" y="868680"/>
            <a:ext cx="54860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42" name="Table 3"/>
          <p:cNvGraphicFramePr/>
          <p:nvPr/>
        </p:nvGraphicFramePr>
        <p:xfrm>
          <a:off x="1371600" y="1371600"/>
          <a:ext cx="914364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011680"/>
                <a:gridCol w="219456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d_error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이전 보상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현재 보상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변화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0m (jackpot)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350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200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ddddee"/>
                        </a:solidFill>
                        <a:latin typeface="맑은 고딕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224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111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ddddee"/>
                        </a:solidFill>
                        <a:latin typeface="맑은 고딕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5m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172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38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4.5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배 ↓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10m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155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31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5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배 ↓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15m (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수렴점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151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30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5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배 ↓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50m (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즉시 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drop)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150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6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25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배 ↓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</a:tbl>
          </a:graphicData>
        </a:graphic>
      </p:graphicFrame>
      <p:sp>
        <p:nvSpPr>
          <p:cNvPr id="143" name="Rounded Rectangle 4"/>
          <p:cNvSpPr/>
          <p:nvPr/>
        </p:nvSpPr>
        <p:spPr>
          <a:xfrm>
            <a:off x="1828800" y="4846320"/>
            <a:ext cx="8229240" cy="13712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d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2286000" y="5029200"/>
            <a:ext cx="7314840" cy="7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zh-CN" sz="1700" spc="-1" strike="noStrike">
                <a:solidFill>
                  <a:srgbClr val="ff6b6b"/>
                </a:solidFill>
                <a:latin typeface="맑은 고딕"/>
              </a:rPr>
              <a:t>이전</a:t>
            </a:r>
            <a:r>
              <a:rPr b="1" lang="en-US" sz="1700" spc="-1" strike="noStrike">
                <a:solidFill>
                  <a:srgbClr val="ff6b6b"/>
                </a:solidFill>
                <a:latin typeface="맑은 고딕"/>
              </a:rPr>
              <a:t>:  </a:t>
            </a:r>
            <a:r>
              <a:rPr b="1" lang="zh-CN" sz="1700" spc="-1" strike="noStrike">
                <a:solidFill>
                  <a:srgbClr val="ff6b6b"/>
                </a:solidFill>
                <a:latin typeface="맑은 고딕"/>
              </a:rPr>
              <a:t>최고</a:t>
            </a:r>
            <a:r>
              <a:rPr b="1" lang="en-US" sz="1700" spc="-1" strike="noStrike">
                <a:solidFill>
                  <a:srgbClr val="ff6b6b"/>
                </a:solidFill>
                <a:latin typeface="맑은 고딕"/>
              </a:rPr>
              <a:t>(0m) vs </a:t>
            </a:r>
            <a:r>
              <a:rPr b="1" lang="zh-CN" sz="1700" spc="-1" strike="noStrike">
                <a:solidFill>
                  <a:srgbClr val="ff6b6b"/>
                </a:solidFill>
                <a:latin typeface="맑은 고딕"/>
              </a:rPr>
              <a:t>최저</a:t>
            </a:r>
            <a:r>
              <a:rPr b="1" lang="en-US" sz="1700" spc="-1" strike="noStrike">
                <a:solidFill>
                  <a:srgbClr val="ff6b6b"/>
                </a:solidFill>
                <a:latin typeface="맑은 고딕"/>
              </a:rPr>
              <a:t>(50m)  =  350 vs 150  →  2.3</a:t>
            </a:r>
            <a:r>
              <a:rPr b="1" lang="zh-CN" sz="1700" spc="-1" strike="noStrike">
                <a:solidFill>
                  <a:srgbClr val="ff6b6b"/>
                </a:solidFill>
                <a:latin typeface="맑은 고딕"/>
              </a:rPr>
              <a:t>배 차이 </a:t>
            </a:r>
            <a:r>
              <a:rPr b="1" lang="en-US" sz="1700" spc="-1" strike="noStrike">
                <a:solidFill>
                  <a:srgbClr val="ff6b6b"/>
                </a:solidFill>
                <a:latin typeface="맑은 고딕"/>
              </a:rPr>
              <a:t>(</a:t>
            </a:r>
            <a:r>
              <a:rPr b="1" lang="zh-CN" sz="1700" spc="-1" strike="noStrike">
                <a:solidFill>
                  <a:srgbClr val="ff6b6b"/>
                </a:solidFill>
                <a:latin typeface="맑은 고딕"/>
              </a:rPr>
              <a:t>둔감</a:t>
            </a:r>
            <a:r>
              <a:rPr b="1" lang="en-US" sz="1700" spc="-1" strike="noStrike">
                <a:solidFill>
                  <a:srgbClr val="ff6b6b"/>
                </a:solidFill>
                <a:latin typeface="맑은 고딕"/>
              </a:rPr>
              <a:t>)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zh-CN" sz="1700" spc="-1" strike="noStrike">
                <a:solidFill>
                  <a:srgbClr val="51e098"/>
                </a:solidFill>
                <a:latin typeface="맑은 고딕"/>
              </a:rPr>
              <a:t>현재</a:t>
            </a:r>
            <a:r>
              <a:rPr b="1" lang="en-US" sz="1700" spc="-1" strike="noStrike">
                <a:solidFill>
                  <a:srgbClr val="51e098"/>
                </a:solidFill>
                <a:latin typeface="맑은 고딕"/>
              </a:rPr>
              <a:t>:  </a:t>
            </a:r>
            <a:r>
              <a:rPr b="1" lang="zh-CN" sz="1700" spc="-1" strike="noStrike">
                <a:solidFill>
                  <a:srgbClr val="51e098"/>
                </a:solidFill>
                <a:latin typeface="맑은 고딕"/>
              </a:rPr>
              <a:t>최고</a:t>
            </a:r>
            <a:r>
              <a:rPr b="1" lang="en-US" sz="1700" spc="-1" strike="noStrike">
                <a:solidFill>
                  <a:srgbClr val="51e098"/>
                </a:solidFill>
                <a:latin typeface="맑은 고딕"/>
              </a:rPr>
              <a:t>(0m) vs </a:t>
            </a:r>
            <a:r>
              <a:rPr b="1" lang="zh-CN" sz="1700" spc="-1" strike="noStrike">
                <a:solidFill>
                  <a:srgbClr val="51e098"/>
                </a:solidFill>
                <a:latin typeface="맑은 고딕"/>
              </a:rPr>
              <a:t>최저</a:t>
            </a:r>
            <a:r>
              <a:rPr b="1" lang="en-US" sz="1700" spc="-1" strike="noStrike">
                <a:solidFill>
                  <a:srgbClr val="51e098"/>
                </a:solidFill>
                <a:latin typeface="맑은 고딕"/>
              </a:rPr>
              <a:t>(50m)  =  200 vs 6      →  33</a:t>
            </a:r>
            <a:r>
              <a:rPr b="1" lang="zh-CN" sz="1700" spc="-1" strike="noStrike">
                <a:solidFill>
                  <a:srgbClr val="51e098"/>
                </a:solidFill>
                <a:latin typeface="맑은 고딕"/>
              </a:rPr>
              <a:t>배 차이 </a:t>
            </a:r>
            <a:r>
              <a:rPr b="1" lang="en-US" sz="1700" spc="-1" strike="noStrike">
                <a:solidFill>
                  <a:srgbClr val="51e098"/>
                </a:solidFill>
                <a:latin typeface="맑은 고딕"/>
              </a:rPr>
              <a:t>(</a:t>
            </a:r>
            <a:r>
              <a:rPr b="1" lang="zh-CN" sz="1700" spc="-1" strike="noStrike">
                <a:solidFill>
                  <a:srgbClr val="51e098"/>
                </a:solidFill>
                <a:latin typeface="맑은 고딕"/>
              </a:rPr>
              <a:t>민감</a:t>
            </a:r>
            <a:r>
              <a:rPr b="1" lang="en-US" sz="1700" spc="-1" strike="noStrike">
                <a:solidFill>
                  <a:srgbClr val="51e098"/>
                </a:solidFill>
                <a:latin typeface="맑은 고딕"/>
              </a:rPr>
              <a:t>)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투하 메커니즘 — </a:t>
            </a:r>
            <a:r>
              <a:rPr b="1" lang="en-US" sz="3200" spc="-1" strike="noStrike">
                <a:solidFill>
                  <a:srgbClr val="5cb8ff"/>
                </a:solidFill>
                <a:latin typeface="맑은 고딕"/>
              </a:rPr>
              <a:t>Auto-only → Hybrid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ounded Rectangle 2"/>
          <p:cNvSpPr/>
          <p:nvPr/>
        </p:nvSpPr>
        <p:spPr>
          <a:xfrm>
            <a:off x="548640" y="868680"/>
            <a:ext cx="54860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ounded Rectangle 3"/>
          <p:cNvSpPr/>
          <p:nvPr/>
        </p:nvSpPr>
        <p:spPr>
          <a:xfrm>
            <a:off x="548640" y="1280160"/>
            <a:ext cx="5303160" cy="50288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822960" y="137160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ff6b6b"/>
                </a:solidFill>
                <a:latin typeface="맑은 고딕"/>
              </a:rPr>
              <a:t>이전</a:t>
            </a:r>
            <a:r>
              <a:rPr b="1" lang="en-US" sz="2000" spc="-1" strike="noStrike">
                <a:solidFill>
                  <a:srgbClr val="ff6b6b"/>
                </a:solidFill>
                <a:latin typeface="맑은 고딕"/>
              </a:rPr>
              <a:t>: </a:t>
            </a:r>
            <a:r>
              <a:rPr b="1" lang="zh-CN" sz="2000" spc="-1" strike="noStrike">
                <a:solidFill>
                  <a:srgbClr val="ff6b6b"/>
                </a:solidFill>
                <a:latin typeface="맑은 고딕"/>
              </a:rPr>
              <a:t>자동 투하만 존재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822960" y="1920240"/>
            <a:ext cx="4754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</a:rPr>
              <a:t>d_impact ≤ 10m → </a:t>
            </a:r>
            <a:r>
              <a:rPr b="1" lang="zh-CN" sz="1600" spc="-1" strike="noStrike">
                <a:solidFill>
                  <a:srgbClr val="ffffff"/>
                </a:solidFill>
                <a:latin typeface="Consolas"/>
              </a:rPr>
              <a:t>즉시 자동 투하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822960" y="2651760"/>
            <a:ext cx="4754520" cy="25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에이전트가 투하 시점을 결정할 수 없음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예측 낙하점이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10m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안에 처음 진입하는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순간 강제로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drop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이 발동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d93d"/>
                </a:solidFill>
                <a:latin typeface="맑은 고딕"/>
              </a:rPr>
              <a:t>"</a:t>
            </a:r>
            <a:r>
              <a:rPr b="0" lang="zh-CN" sz="1400" spc="-1" strike="noStrike">
                <a:solidFill>
                  <a:srgbClr val="ffd93d"/>
                </a:solidFill>
                <a:latin typeface="맑은 고딕"/>
              </a:rPr>
              <a:t>더 가까이 가서 정밀하게</a:t>
            </a:r>
            <a:r>
              <a:rPr b="0" lang="en-US" sz="1400" spc="-1" strike="noStrike">
                <a:solidFill>
                  <a:srgbClr val="ffd93d"/>
                </a:solidFill>
                <a:latin typeface="맑은 고딕"/>
              </a:rPr>
              <a:t>" </a:t>
            </a:r>
            <a:r>
              <a:rPr b="0" lang="zh-CN" sz="1400" spc="-1" strike="noStrike">
                <a:solidFill>
                  <a:srgbClr val="ffd93d"/>
                </a:solidFill>
                <a:latin typeface="맑은 고딕"/>
              </a:rPr>
              <a:t>전략이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구조적으로 불가능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action[4] (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투하 행동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)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가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학습에 전혀 기여하지 못함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Rounded Rectangle 7"/>
          <p:cNvSpPr/>
          <p:nvPr/>
        </p:nvSpPr>
        <p:spPr>
          <a:xfrm>
            <a:off x="6217920" y="1280160"/>
            <a:ext cx="5303160" cy="50288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51e09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6492240" y="137160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51e098"/>
                </a:solidFill>
                <a:latin typeface="맑은 고딕"/>
              </a:rPr>
              <a:t>현재</a:t>
            </a:r>
            <a:r>
              <a:rPr b="1" lang="en-US" sz="2000" spc="-1" strike="noStrike">
                <a:solidFill>
                  <a:srgbClr val="51e098"/>
                </a:solidFill>
                <a:latin typeface="맑은 고딕"/>
              </a:rPr>
              <a:t>: </a:t>
            </a:r>
            <a:r>
              <a:rPr b="1" lang="zh-CN" sz="2000" spc="-1" strike="noStrike">
                <a:solidFill>
                  <a:srgbClr val="51e098"/>
                </a:solidFill>
                <a:latin typeface="맑은 고딕"/>
              </a:rPr>
              <a:t>하이브리드 투하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9"/>
          <p:cNvSpPr/>
          <p:nvPr/>
        </p:nvSpPr>
        <p:spPr>
          <a:xfrm>
            <a:off x="6492240" y="1920240"/>
            <a:ext cx="475452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zh-CN" sz="1400" spc="-1" strike="noStrike">
                <a:solidFill>
                  <a:srgbClr val="ffffff"/>
                </a:solidFill>
                <a:latin typeface="Consolas"/>
              </a:rPr>
              <a:t>수동 </a:t>
            </a:r>
            <a:r>
              <a:rPr b="1" lang="en-US" sz="1400" spc="-1" strike="noStrike">
                <a:solidFill>
                  <a:srgbClr val="ffffff"/>
                </a:solidFill>
                <a:latin typeface="Consolas"/>
              </a:rPr>
              <a:t>= action[4] &gt; 0.5  AND  step ≥ 10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zh-CN" sz="1400" spc="-1" strike="noStrike">
                <a:solidFill>
                  <a:srgbClr val="ffffff"/>
                </a:solidFill>
                <a:latin typeface="Consolas"/>
              </a:rPr>
              <a:t>자동 </a:t>
            </a:r>
            <a:r>
              <a:rPr b="1" lang="en-US" sz="1400" spc="-1" strike="noStrike">
                <a:solidFill>
                  <a:srgbClr val="ffffff"/>
                </a:solidFill>
                <a:latin typeface="Consolas"/>
              </a:rPr>
              <a:t>= d_impact ≤ 2.0m  (</a:t>
            </a:r>
            <a:r>
              <a:rPr b="1" lang="zh-CN" sz="1400" spc="-1" strike="noStrike">
                <a:solidFill>
                  <a:srgbClr val="ffffff"/>
                </a:solidFill>
                <a:latin typeface="Consolas"/>
              </a:rPr>
              <a:t>안전망</a:t>
            </a:r>
            <a:r>
              <a:rPr b="1" lang="en-US" sz="1400" spc="-1" strike="noStrike">
                <a:solidFill>
                  <a:srgbClr val="ffffff"/>
                </a:solidFill>
                <a:latin typeface="Consolas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6492240" y="2926080"/>
            <a:ext cx="4754520" cy="28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zh-CN" sz="1400" spc="-1" strike="noStrike">
                <a:solidFill>
                  <a:srgbClr val="51e098"/>
                </a:solidFill>
                <a:latin typeface="맑은 고딕"/>
              </a:rPr>
              <a:t>에이전트가 직접 투하 시점을 결정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step ≥ 10: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이륙 직후 무의미 투하 방지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자동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2m: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최소한의 안전망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proximity bonus</a:t>
            </a: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와 결합</a:t>
            </a: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멀리서 즉시 투하 → 보상 ≈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가까이 가서 투하 → 보상 최대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WandB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에서 수동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/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자동 비율 추적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→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수동↑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=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에이전트가 학습 중인 증거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에피소드 종료 조건 정비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ounded Rectangle 2"/>
          <p:cNvSpPr/>
          <p:nvPr/>
        </p:nvSpPr>
        <p:spPr>
          <a:xfrm>
            <a:off x="548640" y="868680"/>
            <a:ext cx="45716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ounded Rectangle 3"/>
          <p:cNvSpPr/>
          <p:nvPr/>
        </p:nvSpPr>
        <p:spPr>
          <a:xfrm>
            <a:off x="548640" y="1280160"/>
            <a:ext cx="5303160" cy="18284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822960" y="1371600"/>
            <a:ext cx="4754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ff6b6b"/>
                </a:solidFill>
                <a:latin typeface="맑은 고딕"/>
              </a:rPr>
              <a:t>이전의 문제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822960" y="1828800"/>
            <a:ext cx="475452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지면에 닿아 바운스해도 종료되지 않음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타겟 반대 방향으로 날아가도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500 step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대기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→ </a:t>
            </a: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무의미한 에피소드로 학습 시간 낭비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60" name="Table 6"/>
          <p:cNvGraphicFramePr/>
          <p:nvPr/>
        </p:nvGraphicFramePr>
        <p:xfrm>
          <a:off x="548640" y="3474720"/>
          <a:ext cx="1097244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1371600"/>
                <a:gridCol w="36576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조건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페널티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ground contact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고도 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&lt; 0.5m (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무조건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-50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신규 ★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crash (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저고도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고도 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&lt; 3m, step &gt; 1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-50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유예 축소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overspeed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속도 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&gt; 20 m/s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-30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ddddee"/>
                        </a:solidFill>
                        <a:latin typeface="맑은 고딕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ang_vel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각속도 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&gt; 2.0 rad/s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-30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ddddee"/>
                        </a:solidFill>
                        <a:latin typeface="맑은 고딕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inverted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roll/pitch &gt; 60°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-30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300" spc="-1" strike="noStrike">
                        <a:solidFill>
                          <a:srgbClr val="ddddee"/>
                        </a:solidFill>
                        <a:latin typeface="맑은 고딕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out_of_range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타겟 거리 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&gt; 100m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-30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신규 ★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timeout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500 step (drop 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미발동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-15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페널티 축소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</a:tbl>
          </a:graphicData>
        </a:graphic>
      </p:graphicFrame>
      <p:sp>
        <p:nvSpPr>
          <p:cNvPr id="161" name="Rounded Rectangle 7"/>
          <p:cNvSpPr/>
          <p:nvPr/>
        </p:nvSpPr>
        <p:spPr>
          <a:xfrm>
            <a:off x="6217920" y="1280160"/>
            <a:ext cx="5303160" cy="18284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51e09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8"/>
          <p:cNvSpPr/>
          <p:nvPr/>
        </p:nvSpPr>
        <p:spPr>
          <a:xfrm>
            <a:off x="6492240" y="1371600"/>
            <a:ext cx="4754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51e098"/>
                </a:solidFill>
                <a:latin typeface="맑은 고딕"/>
              </a:rPr>
              <a:t>추가된 조건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6492240" y="1828800"/>
            <a:ext cx="475452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51e098"/>
                </a:solidFill>
                <a:latin typeface="맑은 고딕"/>
              </a:rPr>
              <a:t>ground contact: </a:t>
            </a:r>
            <a:r>
              <a:rPr b="0" lang="zh-CN" sz="1400" spc="-1" strike="noStrike">
                <a:solidFill>
                  <a:srgbClr val="51e098"/>
                </a:solidFill>
                <a:latin typeface="맑은 고딕"/>
              </a:rPr>
              <a:t>지면 바운스 제거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51e098"/>
                </a:solidFill>
                <a:latin typeface="맑은 고딕"/>
              </a:rPr>
              <a:t>out_of_range: </a:t>
            </a:r>
            <a:r>
              <a:rPr b="0" lang="zh-CN" sz="1400" spc="-1" strike="noStrike">
                <a:solidFill>
                  <a:srgbClr val="51e098"/>
                </a:solidFill>
                <a:latin typeface="맑은 고딕"/>
              </a:rPr>
              <a:t>역주행 에피소드 조기 종료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d93d"/>
                </a:solidFill>
                <a:latin typeface="맑은 고딕"/>
              </a:rPr>
              <a:t>→ </a:t>
            </a: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학습 효율 향상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학습 설정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ounded Rectangle 2"/>
          <p:cNvSpPr/>
          <p:nvPr/>
        </p:nvSpPr>
        <p:spPr>
          <a:xfrm>
            <a:off x="548640" y="868680"/>
            <a:ext cx="27428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66" name="Table 3"/>
          <p:cNvGraphicFramePr/>
          <p:nvPr/>
        </p:nvGraphicFramePr>
        <p:xfrm>
          <a:off x="548640" y="1280160"/>
          <a:ext cx="5668920" cy="274284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2286000"/>
              </a:tblGrid>
              <a:tr h="3916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파라미터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learning_rate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3e-4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SAC 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표준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buffer_size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500,000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경험 보존 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(100K→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확대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batch_size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256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표준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gamma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0.995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horizon ≈ 200 step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gradient_steps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4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에서 발산 → </a:t>
                      </a: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로 복구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net_arch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[256, 256]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2-layer MLP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" name="Table 4"/>
          <p:cNvGraphicFramePr/>
          <p:nvPr/>
        </p:nvGraphicFramePr>
        <p:xfrm>
          <a:off x="6583680" y="1280160"/>
          <a:ext cx="5028840" cy="210276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920240"/>
              </a:tblGrid>
              <a:tr h="4204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파라미터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353555"/>
                    </a:solidFill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action_vx_scale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8 m/s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15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에서 축소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action_rate_limit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0.2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급조작 방지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max_steps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500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~25</a:t>
                      </a: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초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2223c"/>
                    </a:solidFill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min_altitude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3.0m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zh-CN" sz="1300" spc="-1" strike="noStrike">
                          <a:solidFill>
                            <a:srgbClr val="ddddee"/>
                          </a:solidFill>
                          <a:latin typeface="맑은 고딕"/>
                        </a:rPr>
                        <a:t>안전 고도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a3a5c"/>
                      </a:solidFill>
                      <a:prstDash val="solid"/>
                    </a:lnL>
                    <a:lnR w="6480">
                      <a:solidFill>
                        <a:srgbClr val="3a3a5c"/>
                      </a:solidFill>
                      <a:prstDash val="solid"/>
                    </a:lnR>
                    <a:lnT w="6480">
                      <a:solidFill>
                        <a:srgbClr val="3a3a5c"/>
                      </a:solidFill>
                      <a:prstDash val="solid"/>
                    </a:lnT>
                    <a:lnB w="6480">
                      <a:solidFill>
                        <a:srgbClr val="3a3a5c"/>
                      </a:solidFill>
                      <a:prstDash val="solid"/>
                    </a:lnB>
                    <a:solidFill>
                      <a:srgbClr val="2a2a48"/>
                    </a:solidFill>
                  </a:tcPr>
                </a:tc>
              </a:tr>
            </a:tbl>
          </a:graphicData>
        </a:graphic>
      </p:graphicFrame>
      <p:sp>
        <p:nvSpPr>
          <p:cNvPr id="168" name="Rounded Rectangle 5"/>
          <p:cNvSpPr/>
          <p:nvPr/>
        </p:nvSpPr>
        <p:spPr>
          <a:xfrm>
            <a:off x="548640" y="4389120"/>
            <a:ext cx="5303160" cy="219420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822960" y="4480560"/>
            <a:ext cx="4754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ffd93d"/>
                </a:solidFill>
                <a:latin typeface="맑은 고딕"/>
              </a:rPr>
              <a:t>핵심 결정</a:t>
            </a:r>
            <a:r>
              <a:rPr b="1" lang="en-US" sz="1800" spc="-1" strike="noStrike">
                <a:solidFill>
                  <a:srgbClr val="ffd93d"/>
                </a:solidFill>
                <a:latin typeface="맑은 고딕"/>
              </a:rPr>
              <a:t>: gradient_steps = 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822960" y="4937760"/>
            <a:ext cx="4754520" cy="10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4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로 설정 시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critic loss 17,000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폭주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큰 터미널 보상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+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작은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step 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보상 혼재를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4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배 빈도로 학습 →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Q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값 발산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51e098"/>
                </a:solidFill>
                <a:latin typeface="맑은 고딕"/>
              </a:rPr>
              <a:t>1</a:t>
            </a:r>
            <a:r>
              <a:rPr b="0" lang="zh-CN" sz="1400" spc="-1" strike="noStrike">
                <a:solidFill>
                  <a:srgbClr val="51e098"/>
                </a:solidFill>
                <a:latin typeface="맑은 고딕"/>
              </a:rPr>
              <a:t>로 복귀 후 안정화 확인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ounded Rectangle 8"/>
          <p:cNvSpPr/>
          <p:nvPr/>
        </p:nvSpPr>
        <p:spPr>
          <a:xfrm>
            <a:off x="6217920" y="4389120"/>
            <a:ext cx="5303160" cy="219420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6492240" y="4480560"/>
            <a:ext cx="4754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ffd93d"/>
                </a:solidFill>
                <a:latin typeface="맑은 고딕"/>
              </a:rPr>
              <a:t>핵심 결정</a:t>
            </a:r>
            <a:r>
              <a:rPr b="1" lang="en-US" sz="1800" spc="-1" strike="noStrike">
                <a:solidFill>
                  <a:srgbClr val="ffd93d"/>
                </a:solidFill>
                <a:latin typeface="맑은 고딕"/>
              </a:rPr>
              <a:t>: gamma = 0.995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6492240" y="4937760"/>
            <a:ext cx="4754520" cy="10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유효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horizon ≈ 200 step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당장 다음 </a:t>
            </a:r>
            <a:r>
              <a:rPr b="0" lang="en-US" sz="1400" spc="-1" strike="noStrike">
                <a:solidFill>
                  <a:srgbClr val="aaaabb"/>
                </a:solidFill>
                <a:latin typeface="맑은 고딕"/>
              </a:rPr>
              <a:t>step</a:t>
            </a: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이 아닌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aaaabb"/>
                </a:solidFill>
                <a:latin typeface="맑은 고딕"/>
              </a:rPr>
              <a:t>수십 초 후의 투하 성공까지 고려해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51e098"/>
                </a:solidFill>
                <a:latin typeface="맑은 고딕"/>
              </a:rPr>
              <a:t>비행 경로를 계획할 수 있게 된다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/>
          <p:nvPr/>
        </p:nvSpPr>
        <p:spPr>
          <a:xfrm>
            <a:off x="548640" y="274320"/>
            <a:ext cx="10972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200" spc="-1" strike="noStrike">
                <a:solidFill>
                  <a:srgbClr val="5cb8ff"/>
                </a:solidFill>
                <a:latin typeface="맑은 고딕"/>
              </a:rPr>
              <a:t>현재 상태와 향후 방향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ounded Rectangle 2"/>
          <p:cNvSpPr/>
          <p:nvPr/>
        </p:nvSpPr>
        <p:spPr>
          <a:xfrm>
            <a:off x="548640" y="868680"/>
            <a:ext cx="4571640" cy="37800"/>
          </a:xfrm>
          <a:prstGeom prst="roundRect">
            <a:avLst>
              <a:gd name="adj" fmla="val 5000"/>
            </a:avLst>
          </a:prstGeom>
          <a:solidFill>
            <a:srgbClr val="5cb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920" bIns="-7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Rounded Rectangle 3"/>
          <p:cNvSpPr/>
          <p:nvPr/>
        </p:nvSpPr>
        <p:spPr>
          <a:xfrm>
            <a:off x="548640" y="1280160"/>
            <a:ext cx="5303160" cy="219420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5cb8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822960" y="137160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5cb8ff"/>
                </a:solidFill>
                <a:latin typeface="맑은 고딕"/>
              </a:rPr>
              <a:t>현재 진행 상황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822960" y="1828800"/>
            <a:ext cx="4754520" cy="11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Round 1 </a:t>
            </a:r>
            <a:r>
              <a:rPr b="1" lang="zh-CN" sz="1500" spc="-1" strike="noStrike">
                <a:solidFill>
                  <a:srgbClr val="ffffff"/>
                </a:solidFill>
                <a:latin typeface="맑은 고딕"/>
              </a:rPr>
              <a:t>본학습 진행 중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500" spc="-1" strike="noStrike">
                <a:solidFill>
                  <a:srgbClr val="aaaabb"/>
                </a:solidFill>
                <a:latin typeface="맑은 고딕"/>
              </a:rPr>
              <a:t>WandB run: dv428atu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500" spc="-1" strike="noStrike">
                <a:solidFill>
                  <a:srgbClr val="aaaabb"/>
                </a:solidFill>
                <a:latin typeface="맑은 고딕"/>
              </a:rPr>
              <a:t>150k step, fresh start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500" spc="-1" strike="noStrike">
                <a:solidFill>
                  <a:srgbClr val="aaaabb"/>
                </a:solidFill>
                <a:latin typeface="맑은 고딕"/>
              </a:rPr>
              <a:t>이전 경험 버퍼 초기화 후 시작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ounded Rectangle 6"/>
          <p:cNvSpPr/>
          <p:nvPr/>
        </p:nvSpPr>
        <p:spPr>
          <a:xfrm>
            <a:off x="6217920" y="1280160"/>
            <a:ext cx="5303160" cy="219420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6492240" y="137160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ffd93d"/>
                </a:solidFill>
                <a:latin typeface="맑은 고딕"/>
              </a:rPr>
              <a:t>확인할 지표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Box 8"/>
          <p:cNvSpPr/>
          <p:nvPr/>
        </p:nvSpPr>
        <p:spPr>
          <a:xfrm>
            <a:off x="6492240" y="1828800"/>
            <a:ext cx="4754520" cy="11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drop_error:  13m → 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목표 </a:t>
            </a: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&lt;5m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total_success:  0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회 → </a:t>
            </a: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1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회 이상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수동 투하 비율</a:t>
            </a: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:  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에이전트 학습 증거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맑은 고딕"/>
              </a:rPr>
              <a:t>critic_loss:  &lt;300 </a:t>
            </a:r>
            <a:r>
              <a:rPr b="0" lang="zh-CN" sz="1500" spc="-1" strike="noStrike">
                <a:solidFill>
                  <a:srgbClr val="ffffff"/>
                </a:solidFill>
                <a:latin typeface="맑은 고딕"/>
              </a:rPr>
              <a:t>안정 유지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Rounded Rectangle 9"/>
          <p:cNvSpPr/>
          <p:nvPr/>
        </p:nvSpPr>
        <p:spPr>
          <a:xfrm>
            <a:off x="548640" y="3840480"/>
            <a:ext cx="3382920" cy="255996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51e09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0"/>
          <p:cNvSpPr/>
          <p:nvPr/>
        </p:nvSpPr>
        <p:spPr>
          <a:xfrm>
            <a:off x="822960" y="3931920"/>
            <a:ext cx="283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51e098"/>
                </a:solidFill>
                <a:latin typeface="맑은 고딕"/>
              </a:rPr>
              <a:t>성공 시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822960" y="4389120"/>
            <a:ext cx="283428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51e098"/>
                </a:solidFill>
                <a:latin typeface="맑은 고딕"/>
              </a:rPr>
              <a:t>Phase 2 </a:t>
            </a:r>
            <a:r>
              <a:rPr b="1" lang="zh-CN" sz="1400" spc="-1" strike="noStrike">
                <a:solidFill>
                  <a:srgbClr val="51e098"/>
                </a:solidFill>
                <a:latin typeface="맑은 고딕"/>
              </a:rPr>
              <a:t>진입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auto_drop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축소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/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제거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curriculum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고도화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ounded Rectangle 12"/>
          <p:cNvSpPr/>
          <p:nvPr/>
        </p:nvSpPr>
        <p:spPr>
          <a:xfrm>
            <a:off x="4297680" y="3840480"/>
            <a:ext cx="3382920" cy="255996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d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13"/>
          <p:cNvSpPr/>
          <p:nvPr/>
        </p:nvSpPr>
        <p:spPr>
          <a:xfrm>
            <a:off x="4572000" y="3931920"/>
            <a:ext cx="283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ffd93d"/>
                </a:solidFill>
                <a:latin typeface="맑은 고딕"/>
              </a:rPr>
              <a:t>부분 개선 시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14"/>
          <p:cNvSpPr/>
          <p:nvPr/>
        </p:nvSpPr>
        <p:spPr>
          <a:xfrm>
            <a:off x="4572000" y="4389120"/>
            <a:ext cx="283428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zh-CN" sz="1400" spc="-1" strike="noStrike">
                <a:solidFill>
                  <a:srgbClr val="ffd93d"/>
                </a:solidFill>
                <a:latin typeface="맑은 고딕"/>
              </a:rPr>
              <a:t>보류 안건 추가 적용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이중 보상 </a:t>
            </a: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(#010)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</a:rPr>
              <a:t>prediction bonus </a:t>
            </a: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조정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Rounded Rectangle 15"/>
          <p:cNvSpPr/>
          <p:nvPr/>
        </p:nvSpPr>
        <p:spPr>
          <a:xfrm>
            <a:off x="8046720" y="3840480"/>
            <a:ext cx="3382920" cy="255996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 w="12700">
            <a:solidFill>
              <a:srgbClr val="ff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16"/>
          <p:cNvSpPr/>
          <p:nvPr/>
        </p:nvSpPr>
        <p:spPr>
          <a:xfrm>
            <a:off x="8321040" y="3931920"/>
            <a:ext cx="283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ff6b6b"/>
                </a:solidFill>
                <a:latin typeface="맑은 고딕"/>
              </a:rPr>
              <a:t>개선 없을 시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8321040" y="4389120"/>
            <a:ext cx="283428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zh-CN" sz="1400" spc="-1" strike="noStrike">
                <a:solidFill>
                  <a:srgbClr val="ff6b6b"/>
                </a:solidFill>
                <a:latin typeface="맑은 고딕"/>
              </a:rPr>
              <a:t>근본 재검토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관측 공간 변경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zh-CN" sz="1400" spc="-1" strike="noStrike">
                <a:solidFill>
                  <a:srgbClr val="ffffff"/>
                </a:solidFill>
                <a:latin typeface="맑은 고딕"/>
              </a:rPr>
              <a:t>알고리즘 교체 검토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/>
          <p:nvPr/>
        </p:nvSpPr>
        <p:spPr>
          <a:xfrm>
            <a:off x="914400" y="13716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zh-CN" sz="3600" spc="-1" strike="noStrike">
                <a:solidFill>
                  <a:srgbClr val="5cb8ff"/>
                </a:solidFill>
                <a:latin typeface="맑은 고딕"/>
              </a:rPr>
              <a:t>정리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ounded Rectangle 2"/>
          <p:cNvSpPr/>
          <p:nvPr/>
        </p:nvSpPr>
        <p:spPr>
          <a:xfrm>
            <a:off x="1371600" y="2560320"/>
            <a:ext cx="9143640" cy="3200040"/>
          </a:xfrm>
          <a:prstGeom prst="roundRect">
            <a:avLst>
              <a:gd name="adj" fmla="val 5000"/>
            </a:avLst>
          </a:prstGeom>
          <a:solidFill>
            <a:srgbClr val="2727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1828800" y="2743200"/>
            <a:ext cx="8229240" cy="29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맑은 고딕"/>
              </a:rPr>
              <a:t>7</a:t>
            </a:r>
            <a:r>
              <a:rPr b="0" lang="zh-CN" sz="1800" spc="-1" strike="noStrike">
                <a:solidFill>
                  <a:srgbClr val="ffffff"/>
                </a:solidFill>
                <a:latin typeface="맑은 고딕"/>
              </a:rPr>
              <a:t>회 학습을 통해 인프라</a:t>
            </a:r>
            <a:r>
              <a:rPr b="0" lang="en-US" sz="1800" spc="-1" strike="noStrike">
                <a:solidFill>
                  <a:srgbClr val="ffffff"/>
                </a:solidFill>
                <a:latin typeface="맑은 고딕"/>
              </a:rPr>
              <a:t>, </a:t>
            </a:r>
            <a:r>
              <a:rPr b="0" lang="zh-CN" sz="1800" spc="-1" strike="noStrike">
                <a:solidFill>
                  <a:srgbClr val="ffffff"/>
                </a:solidFill>
                <a:latin typeface="맑은 고딕"/>
              </a:rPr>
              <a:t>알고리즘</a:t>
            </a:r>
            <a:r>
              <a:rPr b="0" lang="en-US" sz="1800" spc="-1" strike="noStrike">
                <a:solidFill>
                  <a:srgbClr val="ffffff"/>
                </a:solidFill>
                <a:latin typeface="맑은 고딕"/>
              </a:rPr>
              <a:t>, </a:t>
            </a:r>
            <a:r>
              <a:rPr b="0" lang="zh-CN" sz="1800" spc="-1" strike="noStrike">
                <a:solidFill>
                  <a:srgbClr val="ffffff"/>
                </a:solidFill>
                <a:latin typeface="맑은 고딕"/>
              </a:rPr>
              <a:t>보상 구조의 문제를 단계적으로 진단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800" spc="-1" strike="noStrike">
                <a:solidFill>
                  <a:srgbClr val="ffd93d"/>
                </a:solidFill>
                <a:latin typeface="맑은 고딕"/>
              </a:rPr>
              <a:t>Round 1 </a:t>
            </a:r>
            <a:r>
              <a:rPr b="1" lang="zh-CN" sz="1800" spc="-1" strike="noStrike">
                <a:solidFill>
                  <a:srgbClr val="ffd93d"/>
                </a:solidFill>
                <a:latin typeface="맑은 고딕"/>
              </a:rPr>
              <a:t>핵심 변경</a:t>
            </a:r>
            <a:r>
              <a:rPr b="1" lang="en-US" sz="1800" spc="-1" strike="noStrike">
                <a:solidFill>
                  <a:srgbClr val="ffd93d"/>
                </a:solidFill>
                <a:latin typeface="맑은 고딕"/>
              </a:rPr>
              <a:t>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맑은 고딕"/>
              </a:rPr>
              <a:t>  </a:t>
            </a:r>
            <a:r>
              <a:rPr b="0" lang="zh-CN" sz="1800" spc="-1" strike="noStrike">
                <a:solidFill>
                  <a:srgbClr val="ffffff"/>
                </a:solidFill>
                <a:latin typeface="맑은 고딕"/>
              </a:rPr>
              <a:t>보상 재설계 — 정밀도에 민감하게</a:t>
            </a:r>
            <a:r>
              <a:rPr b="0" lang="en-US" sz="1800" spc="-1" strike="noStrike">
                <a:solidFill>
                  <a:srgbClr val="ffffff"/>
                </a:solidFill>
                <a:latin typeface="맑은 고딕"/>
              </a:rPr>
              <a:t>, </a:t>
            </a:r>
            <a:r>
              <a:rPr b="0" lang="zh-CN" sz="1800" spc="-1" strike="noStrike">
                <a:solidFill>
                  <a:srgbClr val="ffffff"/>
                </a:solidFill>
                <a:latin typeface="맑은 고딕"/>
              </a:rPr>
              <a:t>스케일은 적정 범위로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맑은 고딕"/>
              </a:rPr>
              <a:t>  </a:t>
            </a:r>
            <a:r>
              <a:rPr b="0" lang="zh-CN" sz="1800" spc="-1" strike="noStrike">
                <a:solidFill>
                  <a:srgbClr val="ffffff"/>
                </a:solidFill>
                <a:latin typeface="맑은 고딕"/>
              </a:rPr>
              <a:t>하이브리드 투하 — 에이전트가 직접 타이밍 결정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맑은 고딕"/>
              </a:rPr>
              <a:t>  </a:t>
            </a:r>
            <a:r>
              <a:rPr b="0" lang="zh-CN" sz="1800" spc="-1" strike="noStrike">
                <a:solidFill>
                  <a:srgbClr val="ffffff"/>
                </a:solidFill>
                <a:latin typeface="맑은 고딕"/>
              </a:rPr>
              <a:t>종료 조건 정비 — 무의미한 에피소드 조기 종료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zh-CN" sz="1800" spc="-1" strike="noStrike">
                <a:solidFill>
                  <a:srgbClr val="5cb8ff"/>
                </a:solidFill>
                <a:latin typeface="맑은 고딕"/>
              </a:rPr>
              <a:t>현재 </a:t>
            </a:r>
            <a:r>
              <a:rPr b="1" lang="en-US" sz="1800" spc="-1" strike="noStrike">
                <a:solidFill>
                  <a:srgbClr val="5cb8ff"/>
                </a:solidFill>
                <a:latin typeface="맑은 고딕"/>
              </a:rPr>
              <a:t>Round 1 </a:t>
            </a:r>
            <a:r>
              <a:rPr b="1" lang="zh-CN" sz="1800" spc="-1" strike="noStrike">
                <a:solidFill>
                  <a:srgbClr val="5cb8ff"/>
                </a:solidFill>
                <a:latin typeface="맑은 고딕"/>
              </a:rPr>
              <a:t>본학습 진행 중 — 결과에 따라 다음 </a:t>
            </a:r>
            <a:r>
              <a:rPr b="1" lang="en-US" sz="1800" spc="-1" strike="noStrike">
                <a:solidFill>
                  <a:srgbClr val="5cb8ff"/>
                </a:solidFill>
                <a:latin typeface="맑은 고딕"/>
              </a:rPr>
              <a:t>Phase </a:t>
            </a:r>
            <a:r>
              <a:rPr b="1" lang="zh-CN" sz="1800" spc="-1" strike="noStrike">
                <a:solidFill>
                  <a:srgbClr val="5cb8ff"/>
                </a:solidFill>
                <a:latin typeface="맑은 고딕"/>
              </a:rPr>
              <a:t>결정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914400" y="594360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aaaabb"/>
                </a:solidFill>
                <a:latin typeface="맑은 고딕"/>
              </a:rPr>
              <a:t>Phase 1 → Phase 2 (</a:t>
            </a:r>
            <a:r>
              <a:rPr b="0" lang="zh-CN" sz="1600" spc="-1" strike="noStrike">
                <a:solidFill>
                  <a:srgbClr val="aaaabb"/>
                </a:solidFill>
                <a:latin typeface="맑은 고딕"/>
              </a:rPr>
              <a:t>정밀화</a:t>
            </a:r>
            <a:r>
              <a:rPr b="0" lang="en-US" sz="1600" spc="-1" strike="noStrike">
                <a:solidFill>
                  <a:srgbClr val="aaaabb"/>
                </a:solidFill>
                <a:latin typeface="맑은 고딕"/>
              </a:rPr>
              <a:t>) → Phase 3 (</a:t>
            </a:r>
            <a:r>
              <a:rPr b="0" lang="zh-CN" sz="1600" spc="-1" strike="noStrike">
                <a:solidFill>
                  <a:srgbClr val="aaaabb"/>
                </a:solidFill>
                <a:latin typeface="맑은 고딕"/>
              </a:rPr>
              <a:t>일반화</a:t>
            </a:r>
            <a:r>
              <a:rPr b="0" lang="en-US" sz="1600" spc="-1" strike="noStrike">
                <a:solidFill>
                  <a:srgbClr val="aaaabb"/>
                </a:solidFill>
                <a:latin typeface="맑은 고딕"/>
              </a:rPr>
              <a:t>)  |  </a:t>
            </a:r>
            <a:r>
              <a:rPr b="0" lang="zh-CN" sz="1600" spc="-1" strike="noStrike">
                <a:solidFill>
                  <a:srgbClr val="aaaabb"/>
                </a:solidFill>
                <a:latin typeface="맑은 고딕"/>
              </a:rPr>
              <a:t>최종</a:t>
            </a:r>
            <a:r>
              <a:rPr b="0" lang="en-US" sz="1600" spc="-1" strike="noStrike">
                <a:solidFill>
                  <a:srgbClr val="aaaabb"/>
                </a:solidFill>
                <a:latin typeface="맑은 고딕"/>
              </a:rPr>
              <a:t>: 0.1m </a:t>
            </a:r>
            <a:r>
              <a:rPr b="0" lang="zh-CN" sz="1600" spc="-1" strike="noStrike">
                <a:solidFill>
                  <a:srgbClr val="aaaabb"/>
                </a:solidFill>
                <a:latin typeface="맑은 고딕"/>
              </a:rPr>
              <a:t>이내 정밀투하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2026-05-25T15:33:09Z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